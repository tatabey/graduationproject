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1" r:id="rId7"/>
    <p:sldId id="272" r:id="rId8"/>
    <p:sldId id="262" r:id="rId9"/>
    <p:sldId id="273" r:id="rId10"/>
    <p:sldId id="264" r:id="rId11"/>
    <p:sldId id="25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6"/>
  </p:normalViewPr>
  <p:slideViewPr>
    <p:cSldViewPr snapToGrid="0" snapToObjects="1">
      <p:cViewPr varScale="1">
        <p:scale>
          <a:sx n="42" d="100"/>
          <a:sy n="42" d="100"/>
        </p:scale>
        <p:origin x="48" y="83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AACB8-4FB9-D44E-9BFD-2F27477F22B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82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10.03.2026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792" y="1947799"/>
            <a:ext cx="9360408" cy="1679575"/>
          </a:xfrm>
        </p:spPr>
        <p:txBody>
          <a:bodyPr/>
          <a:lstStyle/>
          <a:p>
            <a:r>
              <a:rPr lang="en-US" dirty="0"/>
              <a:t>Multimodal RAG for Integrating Tabular, Text and Image Data</a:t>
            </a:r>
            <a:r>
              <a:rPr lang="tr-TR" dirty="0"/>
              <a:t> (2-Term Project)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496</a:t>
            </a:r>
            <a:endParaRPr lang="tr-TR" dirty="0"/>
          </a:p>
          <a:p>
            <a:r>
              <a:rPr lang="en-US" dirty="0"/>
              <a:t>First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Taha Alparslan Atabey</a:t>
            </a:r>
          </a:p>
          <a:p>
            <a:endParaRPr lang="tr-TR" dirty="0"/>
          </a:p>
          <a:p>
            <a:r>
              <a:rPr lang="en-US" dirty="0"/>
              <a:t>Advisor: Asst. Prof. </a:t>
            </a:r>
            <a:r>
              <a:rPr lang="tr-TR" dirty="0"/>
              <a:t>Dr. Salih Sarp</a:t>
            </a:r>
          </a:p>
          <a:p>
            <a:r>
              <a:rPr lang="tr-TR" dirty="0" err="1"/>
              <a:t>March</a:t>
            </a:r>
            <a:r>
              <a:rPr lang="en-US" dirty="0"/>
              <a:t> 202</a:t>
            </a:r>
            <a:r>
              <a:rPr lang="tr-T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Project Definition</a:t>
            </a:r>
          </a:p>
          <a:p>
            <a:r>
              <a:rPr lang="tr-TR" dirty="0" err="1"/>
              <a:t>Phase</a:t>
            </a:r>
            <a:r>
              <a:rPr lang="tr-TR" dirty="0"/>
              <a:t> 1 </a:t>
            </a:r>
            <a:r>
              <a:rPr lang="tr-TR" dirty="0" err="1"/>
              <a:t>Summary</a:t>
            </a:r>
            <a:endParaRPr lang="tr-TR" dirty="0"/>
          </a:p>
          <a:p>
            <a:r>
              <a:rPr lang="tr-TR" dirty="0" err="1"/>
              <a:t>System</a:t>
            </a:r>
            <a:r>
              <a:rPr lang="tr-TR" dirty="0"/>
              <a:t> Architecture</a:t>
            </a:r>
          </a:p>
          <a:p>
            <a:r>
              <a:rPr lang="en-US" dirty="0"/>
              <a:t>Phase 2 Objectives &amp; Scaling Strategy</a:t>
            </a:r>
            <a:endParaRPr lang="tr-TR" dirty="0"/>
          </a:p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r>
              <a:rPr lang="tr-TR" dirty="0"/>
              <a:t> </a:t>
            </a:r>
          </a:p>
          <a:p>
            <a:r>
              <a:rPr lang="tr-TR" dirty="0"/>
              <a:t>Project </a:t>
            </a:r>
            <a:r>
              <a:rPr lang="tr-TR" dirty="0" err="1"/>
              <a:t>Timeline</a:t>
            </a:r>
            <a:r>
              <a:rPr lang="tr-TR" dirty="0"/>
              <a:t> </a:t>
            </a:r>
          </a:p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Definition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pic>
        <p:nvPicPr>
          <p:cNvPr id="13" name="Resim 12" descr="metin, yazı tipi, ekran görüntüsü, diyagram içeren bir resim">
            <a:extLst>
              <a:ext uri="{FF2B5EF4-FFF2-40B4-BE49-F238E27FC236}">
                <a16:creationId xmlns:a16="http://schemas.microsoft.com/office/drawing/2014/main" id="{008721AD-C008-06FB-E177-AB9CA6AC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9700"/>
            <a:ext cx="5519843" cy="4371340"/>
          </a:xfrm>
          <a:prstGeom prst="rect">
            <a:avLst/>
          </a:prstGeom>
        </p:spPr>
      </p:pic>
      <p:sp>
        <p:nvSpPr>
          <p:cNvPr id="8" name="İçerik Yer Tutucusu 2"/>
          <p:cNvSpPr txBox="1">
            <a:spLocks/>
          </p:cNvSpPr>
          <p:nvPr/>
        </p:nvSpPr>
        <p:spPr>
          <a:xfrm>
            <a:off x="5266944" y="1409700"/>
            <a:ext cx="6656771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900" b="1" dirty="0"/>
              <a:t>Problem: </a:t>
            </a:r>
            <a:r>
              <a:rPr lang="en-US" sz="2600" dirty="0"/>
              <a:t>Critical rules in military and industrial standards are trapped inside complex tables, lengthy texts, and images, making manual analysis slow and error-prone.</a:t>
            </a:r>
            <a:endParaRPr lang="tr-TR" sz="2600" dirty="0"/>
          </a:p>
          <a:p>
            <a:pPr algn="just"/>
            <a:endParaRPr lang="tr-TR" sz="3000" dirty="0"/>
          </a:p>
          <a:p>
            <a:pPr algn="just"/>
            <a:endParaRPr lang="tr-TR" sz="3000" dirty="0"/>
          </a:p>
          <a:p>
            <a:pPr algn="just"/>
            <a:r>
              <a:rPr lang="tr-TR" sz="2900" b="1" dirty="0" err="1"/>
              <a:t>Objective</a:t>
            </a:r>
            <a:r>
              <a:rPr lang="tr-TR" sz="2900" b="1" dirty="0"/>
              <a:t>: </a:t>
            </a:r>
            <a:r>
              <a:rPr lang="en-US" sz="2600" dirty="0"/>
              <a:t>To develop a Multimodal RAG agent that unifies these diverse formats, allowing users to ask natural language questions and receive completely holistic, hallucination-free answers.</a:t>
            </a:r>
            <a:endParaRPr lang="tr-TR" sz="2600" dirty="0"/>
          </a:p>
        </p:txBody>
      </p:sp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DB16-2C70-C126-6F54-F2912958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BC60CAF-3611-4625-ED09-A3FF7F4A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Phase</a:t>
            </a:r>
            <a:r>
              <a:rPr lang="tr-TR" dirty="0"/>
              <a:t> 1 </a:t>
            </a:r>
            <a:r>
              <a:rPr lang="tr-TR" dirty="0" err="1"/>
              <a:t>Summary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29A3EF-0B36-B9BD-2712-8ED6E0E2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54ED708-DC87-711F-3F09-5A153888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1D276EA-5256-6145-C406-228D87D5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0AE7549A-FC3F-239A-AB10-AF57FB90565B}"/>
              </a:ext>
            </a:extLst>
          </p:cNvPr>
          <p:cNvSpPr txBox="1">
            <a:spLocks/>
          </p:cNvSpPr>
          <p:nvPr/>
        </p:nvSpPr>
        <p:spPr>
          <a:xfrm>
            <a:off x="164655" y="1310640"/>
            <a:ext cx="5793694" cy="4815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tr-TR" sz="2600" b="1" dirty="0" err="1"/>
              <a:t>Initial</a:t>
            </a:r>
            <a:r>
              <a:rPr lang="tr-TR" sz="2600" b="1" dirty="0"/>
              <a:t> </a:t>
            </a:r>
            <a:r>
              <a:rPr lang="tr-TR" sz="2600" b="1" dirty="0" err="1"/>
              <a:t>Focus</a:t>
            </a:r>
            <a:r>
              <a:rPr lang="tr-TR" sz="2600" b="1" dirty="0"/>
              <a:t>: </a:t>
            </a:r>
            <a:r>
              <a:rPr lang="en-US" sz="2500" dirty="0"/>
              <a:t>Focused on extracting and processing specific, single tables (using</a:t>
            </a:r>
            <a:r>
              <a:rPr lang="tr-TR" sz="2500" dirty="0"/>
              <a:t> </a:t>
            </a:r>
            <a:r>
              <a:rPr lang="en-US" sz="2500" dirty="0" err="1"/>
              <a:t>MinerU</a:t>
            </a:r>
            <a:r>
              <a:rPr lang="en-US" sz="2500" dirty="0"/>
              <a:t>) to prevent the structural loss of 2D data.</a:t>
            </a:r>
            <a:endParaRPr lang="tr-TR" sz="2500" dirty="0"/>
          </a:p>
          <a:p>
            <a:pPr algn="just"/>
            <a:r>
              <a:rPr lang="en-US" sz="2600" b="1" dirty="0"/>
              <a:t>Architecture Shift:</a:t>
            </a:r>
            <a:r>
              <a:rPr lang="en-US" sz="2600" dirty="0"/>
              <a:t> </a:t>
            </a:r>
            <a:r>
              <a:rPr lang="en-US" sz="2500" dirty="0"/>
              <a:t>Transitioned to a "Task-Adaptive Fine-Tuning + RAG" hybrid architecture to accurately interpret tabular matrix logic.</a:t>
            </a:r>
            <a:endParaRPr lang="tr-TR" sz="2500" dirty="0"/>
          </a:p>
          <a:p>
            <a:pPr algn="just"/>
            <a:r>
              <a:rPr lang="en-US" sz="2600" b="1" dirty="0"/>
              <a:t>Proof of Concept (PoC):</a:t>
            </a:r>
            <a:r>
              <a:rPr lang="en-US" sz="2600" dirty="0"/>
              <a:t> </a:t>
            </a:r>
            <a:r>
              <a:rPr lang="en-US" sz="2500" dirty="0"/>
              <a:t>Successfully developed and validated a working PoC audit tool operating on these single tables.</a:t>
            </a:r>
            <a:endParaRPr lang="tr-TR" sz="2500" dirty="0"/>
          </a:p>
        </p:txBody>
      </p:sp>
      <p:pic>
        <p:nvPicPr>
          <p:cNvPr id="3" name="Resim 2" descr="metin, ekran görüntüsü, yazılım, multimedya yazılımı içeren bir resim">
            <a:extLst>
              <a:ext uri="{FF2B5EF4-FFF2-40B4-BE49-F238E27FC236}">
                <a16:creationId xmlns:a16="http://schemas.microsoft.com/office/drawing/2014/main" id="{CEDC5C60-C75E-0AE7-AF16-4CC827118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651" y="1768983"/>
            <a:ext cx="5793694" cy="38991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755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4000" dirty="0" err="1"/>
              <a:t>System</a:t>
            </a:r>
            <a:r>
              <a:rPr lang="tr-TR" sz="4000" dirty="0"/>
              <a:t> Architecture</a:t>
            </a:r>
          </a:p>
        </p:txBody>
      </p:sp>
      <p:pic>
        <p:nvPicPr>
          <p:cNvPr id="7" name="Resim 6" descr="metin, ekran görüntüsü, diyagra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D6C5AA7-4069-5E51-985C-8A5BE1BC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1297858"/>
            <a:ext cx="4571999" cy="5304563"/>
          </a:xfrm>
          <a:prstGeom prst="rect">
            <a:avLst/>
          </a:prstGeom>
          <a:noFill/>
        </p:spPr>
      </p:pic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11.03.2026</a:t>
            </a:r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First Presentation</a:t>
            </a:r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D11FB09-06E2-5F8A-77FC-7D7745F06CC2}"/>
              </a:ext>
            </a:extLst>
          </p:cNvPr>
          <p:cNvSpPr txBox="1">
            <a:spLocks/>
          </p:cNvSpPr>
          <p:nvPr/>
        </p:nvSpPr>
        <p:spPr>
          <a:xfrm>
            <a:off x="5672665" y="1404659"/>
            <a:ext cx="6332521" cy="5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Phase 1 Baseline (Current Stack)</a:t>
            </a:r>
            <a:endParaRPr lang="tr-TR" sz="2200" b="1" dirty="0"/>
          </a:p>
          <a:p>
            <a:r>
              <a:rPr lang="en-US" sz="2200" b="1" dirty="0"/>
              <a:t>Ingestion &amp; Structure Recovery: </a:t>
            </a:r>
            <a:r>
              <a:rPr lang="en-US" sz="2200" dirty="0" err="1"/>
              <a:t>MinerU</a:t>
            </a:r>
            <a:r>
              <a:rPr lang="en-US" sz="2200" dirty="0"/>
              <a:t> 2.5 (VLM)</a:t>
            </a:r>
            <a:endParaRPr lang="tr-TR" sz="2200" dirty="0"/>
          </a:p>
          <a:p>
            <a:r>
              <a:rPr lang="tr-TR" sz="2200" b="1" dirty="0" err="1"/>
              <a:t>Embedding</a:t>
            </a:r>
            <a:r>
              <a:rPr lang="tr-TR" sz="2200" b="1" dirty="0"/>
              <a:t> Model: </a:t>
            </a:r>
            <a:r>
              <a:rPr lang="tr-TR" sz="2200" dirty="0"/>
              <a:t>all-MiniLM-L6-v2</a:t>
            </a:r>
          </a:p>
          <a:p>
            <a:r>
              <a:rPr lang="tr-TR" sz="2200" b="1" dirty="0" err="1"/>
              <a:t>Vector</a:t>
            </a:r>
            <a:r>
              <a:rPr lang="tr-TR" sz="2200" b="1" dirty="0"/>
              <a:t> Database: </a:t>
            </a:r>
            <a:r>
              <a:rPr lang="tr-TR" sz="2200" dirty="0" err="1"/>
              <a:t>ChromaDB</a:t>
            </a:r>
            <a:endParaRPr lang="tr-TR" sz="2200" dirty="0"/>
          </a:p>
          <a:p>
            <a:r>
              <a:rPr lang="en-US" sz="2200" b="1" dirty="0"/>
              <a:t>Synthetic Reasoning Factory: </a:t>
            </a:r>
            <a:r>
              <a:rPr lang="en-US" sz="2200" dirty="0"/>
              <a:t>Gemma-2-9B</a:t>
            </a:r>
            <a:endParaRPr lang="tr-TR" sz="2200" dirty="0"/>
          </a:p>
          <a:p>
            <a:r>
              <a:rPr lang="en-US" sz="2200" b="1" dirty="0"/>
              <a:t>Knowledge Internalization: </a:t>
            </a:r>
            <a:r>
              <a:rPr lang="en-US" sz="2200" dirty="0" err="1"/>
              <a:t>Unsloth</a:t>
            </a:r>
            <a:r>
              <a:rPr lang="en-US" sz="2200" dirty="0"/>
              <a:t> &amp; </a:t>
            </a:r>
            <a:r>
              <a:rPr lang="en-US" sz="2200" dirty="0" err="1"/>
              <a:t>QLoRA</a:t>
            </a:r>
            <a:endParaRPr lang="tr-TR" sz="2200" dirty="0"/>
          </a:p>
          <a:p>
            <a:r>
              <a:rPr lang="es-ES" sz="2200" b="1" dirty="0"/>
              <a:t>Fine-Tuned Local Model: </a:t>
            </a:r>
            <a:r>
              <a:rPr lang="es-ES" sz="2200" dirty="0"/>
              <a:t>Llama-3</a:t>
            </a:r>
            <a:r>
              <a:rPr lang="tr-TR" sz="2200" dirty="0"/>
              <a:t>.2</a:t>
            </a:r>
            <a:r>
              <a:rPr lang="es-ES" sz="2200" dirty="0"/>
              <a:t>-</a:t>
            </a:r>
            <a:r>
              <a:rPr lang="tr-TR" sz="2200" dirty="0"/>
              <a:t>3</a:t>
            </a:r>
            <a:r>
              <a:rPr lang="es-ES" sz="2200" dirty="0"/>
              <a:t>B (SLM)</a:t>
            </a: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en-US" sz="2200" b="1" dirty="0"/>
              <a:t>Phase 2 Scaling Note:</a:t>
            </a:r>
            <a:r>
              <a:rPr lang="en-US" sz="2200" dirty="0"/>
              <a:t> </a:t>
            </a:r>
            <a:r>
              <a:rPr lang="en-US" sz="2000" dirty="0"/>
              <a:t>Due to local hardware constraints in Phase 1, the architecture relied on APIs and smaller local models (SLMs). For Phase 2, the goal is to deploy higher-parameter foundation models fully locally (on dedicated AI servers) to achieve superior reasoning and accuracy.</a:t>
            </a:r>
            <a:endParaRPr lang="tr-TR" sz="20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E2C6-E601-CAFD-5FA3-265D4374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60CE2A5-AB62-47C1-253E-A1E38B0D5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 Objectives &amp; Scaling Strategy</a:t>
            </a: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CCE453-B49F-5778-F781-E6A1DA01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Altbilgi Yer Tutucusu 4">
            <a:extLst>
              <a:ext uri="{FF2B5EF4-FFF2-40B4-BE49-F238E27FC236}">
                <a16:creationId xmlns:a16="http://schemas.microsoft.com/office/drawing/2014/main" id="{68B2D65B-803A-B06B-56A2-7EFDBA86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80FD976-7F51-9083-9F16-4F26FB4E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id="{27C1D676-E942-AECA-719F-269D90BA77EB}"/>
              </a:ext>
            </a:extLst>
          </p:cNvPr>
          <p:cNvSpPr txBox="1">
            <a:spLocks/>
          </p:cNvSpPr>
          <p:nvPr/>
        </p:nvSpPr>
        <p:spPr>
          <a:xfrm>
            <a:off x="268283" y="1309159"/>
            <a:ext cx="1163754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 dirty="0"/>
              <a:t>Primary Objective: </a:t>
            </a:r>
            <a:r>
              <a:rPr lang="en-US" sz="2300" dirty="0"/>
              <a:t>Scale the system from single-table processing to handling comprehensive, multi-page military standards and complex regulatory documents.</a:t>
            </a:r>
            <a:endParaRPr lang="tr-TR" sz="2300" dirty="0"/>
          </a:p>
          <a:p>
            <a:pPr algn="just"/>
            <a:r>
              <a:rPr lang="en-US" sz="2600" b="1" dirty="0"/>
              <a:t>Overcoming the "Tabular RAG" Hurdle:</a:t>
            </a:r>
            <a:endParaRPr lang="tr-TR" sz="2600" b="1" dirty="0"/>
          </a:p>
          <a:p>
            <a:pPr lvl="1" algn="just"/>
            <a:r>
              <a:rPr lang="en-US" sz="2300" dirty="0"/>
              <a:t>Linearizing 2D tables destroys spatial logic. </a:t>
            </a:r>
            <a:endParaRPr lang="tr-TR" sz="2300" dirty="0"/>
          </a:p>
          <a:p>
            <a:pPr lvl="1" algn="just"/>
            <a:r>
              <a:rPr lang="en-US" sz="2300" dirty="0"/>
              <a:t>Action: We will implement a </a:t>
            </a:r>
            <a:r>
              <a:rPr lang="en-US" sz="2300" b="1" dirty="0"/>
              <a:t>Multi-Vector Retrieval </a:t>
            </a:r>
            <a:r>
              <a:rPr lang="en-US" sz="2300" dirty="0"/>
              <a:t>architecture where tables are summarized by a small AI, indexing only the summaries while keeping full tables for context.</a:t>
            </a:r>
            <a:endParaRPr lang="tr-TR" sz="2300" dirty="0"/>
          </a:p>
          <a:p>
            <a:pPr algn="just"/>
            <a:r>
              <a:rPr lang="en-US" sz="2600" b="1" dirty="0"/>
              <a:t>Future Work &amp; Infrastructure Upgrades:</a:t>
            </a:r>
            <a:endParaRPr lang="tr-TR" sz="2600" b="1" dirty="0"/>
          </a:p>
          <a:p>
            <a:pPr lvl="1" algn="just"/>
            <a:r>
              <a:rPr lang="en-US" sz="2300" b="1" dirty="0"/>
              <a:t>Data Generation: </a:t>
            </a:r>
            <a:r>
              <a:rPr lang="en-US" sz="2300" dirty="0"/>
              <a:t>Creating a synthetic training dataset with 10,000+ "Chain-of-Thought" reasoning scenarios. </a:t>
            </a:r>
            <a:endParaRPr lang="tr-TR" sz="2300" dirty="0"/>
          </a:p>
          <a:p>
            <a:pPr lvl="1" algn="just"/>
            <a:r>
              <a:rPr lang="en-US" sz="2300" b="1" dirty="0"/>
              <a:t>Model &amp; Hardware Scaling: </a:t>
            </a:r>
            <a:r>
              <a:rPr lang="en-US" sz="2300" dirty="0"/>
              <a:t>Transitioning from 4GB VRAM local training to ILGE AI Servers (Multi-GPU) to fine-tune larger foundation models like Llama-3-8B. </a:t>
            </a:r>
            <a:endParaRPr lang="tr-TR" sz="2300" dirty="0"/>
          </a:p>
          <a:p>
            <a:pPr lvl="1" algn="just"/>
            <a:r>
              <a:rPr lang="en-US" sz="2300" b="1" dirty="0"/>
              <a:t>UX Development</a:t>
            </a:r>
            <a:r>
              <a:rPr lang="en-US" sz="2300" dirty="0"/>
              <a:t>: Finalizing the Conversational "Decision Support Assistant" interface.</a:t>
            </a:r>
            <a:endParaRPr lang="tr-TR" sz="2300" dirty="0"/>
          </a:p>
        </p:txBody>
      </p:sp>
    </p:spTree>
    <p:extLst>
      <p:ext uri="{BB962C8B-B14F-4D97-AF65-F5344CB8AC3E}">
        <p14:creationId xmlns:p14="http://schemas.microsoft.com/office/powerpoint/2010/main" val="218709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8774" y="1436160"/>
            <a:ext cx="11294452" cy="5025102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Criterion 1 (</a:t>
            </a:r>
            <a:r>
              <a:rPr lang="tr-TR" sz="2800" b="1" dirty="0" err="1"/>
              <a:t>Retrieval</a:t>
            </a:r>
            <a:r>
              <a:rPr lang="tr-TR" sz="2800" b="1" dirty="0"/>
              <a:t> </a:t>
            </a:r>
            <a:r>
              <a:rPr lang="tr-TR" sz="2800" b="1" dirty="0" err="1"/>
              <a:t>Performance</a:t>
            </a:r>
            <a:r>
              <a:rPr lang="en-US" sz="2800" b="1" dirty="0"/>
              <a:t>):</a:t>
            </a:r>
            <a:r>
              <a:rPr lang="tr-TR" sz="2800" b="1" dirty="0"/>
              <a:t> </a:t>
            </a:r>
            <a:r>
              <a:rPr lang="en-US" sz="2600" dirty="0"/>
              <a:t>Achieving a </a:t>
            </a:r>
            <a:r>
              <a:rPr lang="en-US" sz="2600" b="1" dirty="0"/>
              <a:t>Hit Rate@3 ≥ 85% </a:t>
            </a:r>
            <a:r>
              <a:rPr lang="en-US" sz="2600" dirty="0"/>
              <a:t>and maintaining an </a:t>
            </a:r>
            <a:r>
              <a:rPr lang="en-US" sz="2600" b="1" dirty="0"/>
              <a:t>MRR score ≥ 0.75 </a:t>
            </a:r>
            <a:r>
              <a:rPr lang="en-US" sz="2600" dirty="0"/>
              <a:t>on complex tabular queries.</a:t>
            </a:r>
            <a:endParaRPr lang="tr-TR" sz="2600" dirty="0"/>
          </a:p>
          <a:p>
            <a:pPr lvl="1"/>
            <a:r>
              <a:rPr lang="en-US" sz="2500" b="1" dirty="0"/>
              <a:t>Hit Rate@3:</a:t>
            </a:r>
            <a:r>
              <a:rPr lang="en-US" sz="2500" dirty="0"/>
              <a:t> The percentage of times the correct information/table appears within the top 3 retrieved results.</a:t>
            </a:r>
            <a:endParaRPr lang="tr-TR" sz="2500" dirty="0"/>
          </a:p>
          <a:p>
            <a:pPr lvl="1"/>
            <a:r>
              <a:rPr lang="en-US" sz="2500" b="1" dirty="0"/>
              <a:t>MRR (Mean Reciprocal Rank):</a:t>
            </a:r>
            <a:r>
              <a:rPr lang="en-US" sz="2500" dirty="0"/>
              <a:t> Evaluates the ranking quality of the retrieved correct information (how close it is to the top position).</a:t>
            </a:r>
            <a:endParaRPr lang="tr-TR" sz="2500" dirty="0"/>
          </a:p>
          <a:p>
            <a:pPr lvl="1"/>
            <a:endParaRPr lang="tr-TR" sz="2500" dirty="0"/>
          </a:p>
          <a:p>
            <a:r>
              <a:rPr lang="en-US" sz="2800" b="1" dirty="0"/>
              <a:t>Criterion 2 (Decision Accuracy):</a:t>
            </a:r>
            <a:r>
              <a:rPr lang="tr-TR" sz="2800" b="1" dirty="0"/>
              <a:t> </a:t>
            </a:r>
            <a:r>
              <a:rPr lang="en-US" sz="2600" dirty="0"/>
              <a:t>Achieving an </a:t>
            </a:r>
            <a:r>
              <a:rPr lang="en-US" sz="2600" b="1" dirty="0"/>
              <a:t>Exact Match ≥ 88%</a:t>
            </a:r>
            <a:r>
              <a:rPr lang="en-US" sz="2600" dirty="0"/>
              <a:t> in multi-hop compliance scenarios.</a:t>
            </a:r>
            <a:endParaRPr lang="tr-TR" sz="2600" dirty="0"/>
          </a:p>
          <a:p>
            <a:endParaRPr lang="tr-TR" dirty="0"/>
          </a:p>
          <a:p>
            <a:r>
              <a:rPr lang="en-US" sz="2800" b="1" dirty="0"/>
              <a:t>Criterion 3 (Safety Limits):</a:t>
            </a:r>
            <a:r>
              <a:rPr lang="tr-TR" sz="2800" b="1" dirty="0"/>
              <a:t> </a:t>
            </a:r>
            <a:r>
              <a:rPr lang="en-US" sz="2600" dirty="0"/>
              <a:t>Keeping the </a:t>
            </a:r>
            <a:r>
              <a:rPr lang="en-US" sz="2600" b="1" dirty="0"/>
              <a:t>Hallucination Rate &lt; 4%</a:t>
            </a:r>
            <a:r>
              <a:rPr lang="en-US" sz="2600" dirty="0"/>
              <a:t> (System must output "Information Not Found" rather than fabricating rules).</a:t>
            </a:r>
            <a:endParaRPr lang="tr-TR" sz="26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Project Timeline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AF12862-9DEE-5F44-AA85-E3474520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6" y="1801576"/>
            <a:ext cx="11637547" cy="392767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40819" y="6490759"/>
            <a:ext cx="105720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11.03.2026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76400" y="6490759"/>
            <a:ext cx="79925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dirty="0"/>
              <a:t>CSE496 – First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90759"/>
            <a:ext cx="92568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620E17-498B-DE4E-AB4D-A787BC91D2A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 err="1"/>
              <a:t>References</a:t>
            </a:r>
            <a:endParaRPr lang="tr-TR" sz="4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500" b="1" dirty="0"/>
              <a:t>Primary Domain Standard:</a:t>
            </a:r>
            <a:r>
              <a:rPr lang="tr-TR" sz="2500" b="1" dirty="0"/>
              <a:t> </a:t>
            </a:r>
            <a:r>
              <a:rPr lang="en-US" sz="2500" dirty="0"/>
              <a:t>NATO AASTP-1 (Ed. 1). Allied Storage and Transport Publication for Ammunition and Explosives</a:t>
            </a:r>
            <a:endParaRPr lang="tr-TR" sz="2500" dirty="0"/>
          </a:p>
          <a:p>
            <a:pPr marL="514350" indent="-514350">
              <a:buAutoNum type="arabicPeriod"/>
            </a:pPr>
            <a:r>
              <a:rPr lang="en-US" sz="2500" b="1" dirty="0"/>
              <a:t>Conversational Agent &amp; Reasoning: </a:t>
            </a:r>
            <a:r>
              <a:rPr lang="en-US" sz="2500" dirty="0"/>
              <a:t>Yao, S., et al. (2023). </a:t>
            </a:r>
            <a:r>
              <a:rPr lang="en-US" sz="2500" dirty="0" err="1"/>
              <a:t>ReAct</a:t>
            </a:r>
            <a:r>
              <a:rPr lang="en-US" sz="2500" dirty="0"/>
              <a:t>: Synergizing Reasoning and Acting in Language Models</a:t>
            </a:r>
            <a:endParaRPr lang="tr-TR" sz="2500" dirty="0"/>
          </a:p>
          <a:p>
            <a:pPr marL="514350" indent="-514350">
              <a:buAutoNum type="arabicPeriod"/>
            </a:pPr>
            <a:r>
              <a:rPr lang="tr-TR" sz="2500" b="1" dirty="0" err="1"/>
              <a:t>Summarization-Based</a:t>
            </a:r>
            <a:r>
              <a:rPr lang="tr-TR" sz="2500" b="1" dirty="0"/>
              <a:t> </a:t>
            </a:r>
            <a:r>
              <a:rPr lang="tr-TR" sz="2500" b="1" dirty="0" err="1"/>
              <a:t>Indexing</a:t>
            </a:r>
            <a:r>
              <a:rPr lang="tr-TR" sz="2500" b="1" dirty="0"/>
              <a:t> (Multi-</a:t>
            </a:r>
            <a:r>
              <a:rPr lang="tr-TR" sz="2500" b="1" dirty="0" err="1"/>
              <a:t>Vector</a:t>
            </a:r>
            <a:r>
              <a:rPr lang="tr-TR" sz="2500" b="1" dirty="0"/>
              <a:t>): </a:t>
            </a:r>
            <a:r>
              <a:rPr lang="tr-TR" sz="2500" dirty="0" err="1"/>
              <a:t>Sarthi</a:t>
            </a:r>
            <a:r>
              <a:rPr lang="tr-TR" sz="2500" dirty="0"/>
              <a:t>, P., et al. (2024). RAPTOR: </a:t>
            </a:r>
            <a:r>
              <a:rPr lang="tr-TR" sz="2500" dirty="0" err="1"/>
              <a:t>Recursive</a:t>
            </a:r>
            <a:r>
              <a:rPr lang="tr-TR" sz="2500" dirty="0"/>
              <a:t> </a:t>
            </a:r>
            <a:r>
              <a:rPr lang="tr-TR" sz="2500" dirty="0" err="1"/>
              <a:t>Abstractive</a:t>
            </a:r>
            <a:r>
              <a:rPr lang="tr-TR" sz="2500" dirty="0"/>
              <a:t> </a:t>
            </a:r>
            <a:r>
              <a:rPr lang="tr-TR" sz="2500" dirty="0" err="1"/>
              <a:t>Processing</a:t>
            </a:r>
            <a:r>
              <a:rPr lang="tr-TR" sz="2500" dirty="0"/>
              <a:t> </a:t>
            </a:r>
            <a:r>
              <a:rPr lang="tr-TR" sz="2500" dirty="0" err="1"/>
              <a:t>for</a:t>
            </a:r>
            <a:r>
              <a:rPr lang="tr-TR" sz="2500" dirty="0"/>
              <a:t> </a:t>
            </a:r>
            <a:r>
              <a:rPr lang="tr-TR" sz="2500" dirty="0" err="1"/>
              <a:t>Tree-Organized</a:t>
            </a:r>
            <a:r>
              <a:rPr lang="tr-TR" sz="2500" dirty="0"/>
              <a:t> </a:t>
            </a:r>
            <a:r>
              <a:rPr lang="tr-TR" sz="2500" dirty="0" err="1"/>
              <a:t>Retrieval</a:t>
            </a:r>
            <a:endParaRPr lang="tr-TR" sz="2500" dirty="0"/>
          </a:p>
          <a:p>
            <a:pPr marL="514350" indent="-514350">
              <a:buAutoNum type="arabicPeriod"/>
            </a:pPr>
            <a:r>
              <a:rPr lang="en-US" sz="2500" b="1" dirty="0"/>
              <a:t>Tabular RAG &amp; Linearization: </a:t>
            </a:r>
            <a:r>
              <a:rPr lang="en-US" sz="2500" dirty="0" err="1"/>
              <a:t>Hegselmann</a:t>
            </a:r>
            <a:r>
              <a:rPr lang="en-US" sz="2500" dirty="0"/>
              <a:t>, S., et al. (2023). </a:t>
            </a:r>
            <a:r>
              <a:rPr lang="en-US" sz="2500" dirty="0" err="1"/>
              <a:t>TabLLM</a:t>
            </a:r>
            <a:r>
              <a:rPr lang="en-US" sz="2500" dirty="0"/>
              <a:t>: Few-shot Classification of Tabular Data with Large Language Models</a:t>
            </a:r>
            <a:endParaRPr lang="tr-TR" sz="2500" dirty="0"/>
          </a:p>
          <a:p>
            <a:pPr marL="514350" indent="-514350">
              <a:buAutoNum type="arabicPeriod"/>
            </a:pPr>
            <a:r>
              <a:rPr lang="en-US" sz="2500" b="1" dirty="0"/>
              <a:t>Large-Scale Foundation Models</a:t>
            </a:r>
            <a:r>
              <a:rPr lang="en-US" sz="2500" dirty="0"/>
              <a:t>: </a:t>
            </a:r>
            <a:r>
              <a:rPr lang="en-US" sz="2500" dirty="0" err="1"/>
              <a:t>AI@Meta</a:t>
            </a:r>
            <a:r>
              <a:rPr lang="en-US" sz="2500" dirty="0"/>
              <a:t>. (2024). The Llama 3 Herd of Models</a:t>
            </a:r>
            <a:endParaRPr lang="tr-TR" sz="2500" dirty="0"/>
          </a:p>
          <a:p>
            <a:pPr marL="514350" indent="-514350">
              <a:buAutoNum type="arabicPeriod"/>
            </a:pPr>
            <a:r>
              <a:rPr lang="tr-TR" sz="2500" b="1" dirty="0" err="1"/>
              <a:t>Efficient</a:t>
            </a:r>
            <a:r>
              <a:rPr lang="tr-TR" sz="2500" b="1" dirty="0"/>
              <a:t> </a:t>
            </a:r>
            <a:r>
              <a:rPr lang="tr-TR" sz="2500" b="1" dirty="0" err="1"/>
              <a:t>Fine-Tuning</a:t>
            </a:r>
            <a:r>
              <a:rPr lang="tr-TR" sz="2500" b="1" dirty="0"/>
              <a:t>: </a:t>
            </a:r>
            <a:r>
              <a:rPr lang="tr-TR" sz="2500" dirty="0" err="1"/>
              <a:t>Dettmers</a:t>
            </a:r>
            <a:r>
              <a:rPr lang="tr-TR" sz="2500" dirty="0"/>
              <a:t>, T., et al. (2023). </a:t>
            </a:r>
            <a:r>
              <a:rPr lang="tr-TR" sz="2500" dirty="0" err="1"/>
              <a:t>QLoRA</a:t>
            </a:r>
            <a:r>
              <a:rPr lang="tr-TR" sz="2500" dirty="0"/>
              <a:t>: </a:t>
            </a:r>
            <a:r>
              <a:rPr lang="tr-TR" sz="2500" dirty="0" err="1"/>
              <a:t>Efficient</a:t>
            </a:r>
            <a:r>
              <a:rPr lang="tr-TR" sz="2500" dirty="0"/>
              <a:t> </a:t>
            </a:r>
            <a:r>
              <a:rPr lang="tr-TR" sz="2500" dirty="0" err="1"/>
              <a:t>Finetuning</a:t>
            </a:r>
            <a:r>
              <a:rPr lang="tr-TR" sz="2500" dirty="0"/>
              <a:t> of </a:t>
            </a:r>
            <a:r>
              <a:rPr lang="tr-TR" sz="2500" dirty="0" err="1"/>
              <a:t>Quantized</a:t>
            </a:r>
            <a:r>
              <a:rPr lang="tr-TR" sz="2500" dirty="0"/>
              <a:t> </a:t>
            </a:r>
            <a:r>
              <a:rPr lang="tr-TR" sz="2500" dirty="0" err="1"/>
              <a:t>LLMs</a:t>
            </a:r>
            <a:endParaRPr lang="tr-TR" sz="25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dirty="0"/>
              <a:t>11.03.2026</a:t>
            </a:r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84023-2426-4597-A7B7-5BEBE999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1224</TotalTime>
  <Words>721</Words>
  <Application>Microsoft Office PowerPoint</Application>
  <PresentationFormat>Geniş ekran</PresentationFormat>
  <Paragraphs>85</Paragraphs>
  <Slides>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Arial Narrow</vt:lpstr>
      <vt:lpstr>Calibri</vt:lpstr>
      <vt:lpstr>GTU-ŞABLON-1</vt:lpstr>
      <vt:lpstr>Multimodal RAG for Integrating Tabular, Text and Image Data (2-Term Project)</vt:lpstr>
      <vt:lpstr>Contents</vt:lpstr>
      <vt:lpstr>Project Definition</vt:lpstr>
      <vt:lpstr>Phase 1 Summary</vt:lpstr>
      <vt:lpstr>System Architecture</vt:lpstr>
      <vt:lpstr>Phase 2 Objectives &amp; Scaling Strategy</vt:lpstr>
      <vt:lpstr>Success Criteria</vt:lpstr>
      <vt:lpstr>Project Timeline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TAHA ALPARSLAN ATABEY</cp:lastModifiedBy>
  <cp:revision>105</cp:revision>
  <dcterms:created xsi:type="dcterms:W3CDTF">2015-02-28T16:59:24Z</dcterms:created>
  <dcterms:modified xsi:type="dcterms:W3CDTF">2026-03-10T20:39:55Z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