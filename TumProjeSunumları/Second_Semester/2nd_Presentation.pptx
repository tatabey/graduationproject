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1" r:id="rId7"/>
    <p:sldId id="277" r:id="rId8"/>
    <p:sldId id="278" r:id="rId9"/>
    <p:sldId id="272" r:id="rId10"/>
    <p:sldId id="275" r:id="rId11"/>
    <p:sldId id="27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70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0346CD-EE7C-41AB-B116-EBC1A2B06A56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1304820-2BF0-40BC-AC15-27CF565CAA8E}" type="pres">
      <dgm:prSet presAssocID="{040346CD-EE7C-41AB-B116-EBC1A2B06A56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6BE5387-6BBE-4B60-B8A8-F8535EB38F16}" type="presOf" srcId="{040346CD-EE7C-41AB-B116-EBC1A2B06A56}" destId="{41304820-2BF0-40BC-AC15-27CF565CAA8E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0346CD-EE7C-41AB-B116-EBC1A2B06A56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1304820-2BF0-40BC-AC15-27CF565CAA8E}" type="pres">
      <dgm:prSet presAssocID="{040346CD-EE7C-41AB-B116-EBC1A2B06A56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6BE5387-6BBE-4B60-B8A8-F8535EB38F16}" type="presOf" srcId="{040346CD-EE7C-41AB-B116-EBC1A2B06A56}" destId="{41304820-2BF0-40BC-AC15-27CF565CAA8E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8T18:18:31.3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1,'11441'0,"-22864"0,11401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484" y="2121408"/>
            <a:ext cx="9980529" cy="1533046"/>
          </a:xfrm>
        </p:spPr>
        <p:txBody>
          <a:bodyPr>
            <a:normAutofit/>
          </a:bodyPr>
          <a:lstStyle/>
          <a:p>
            <a:r>
              <a:rPr lang="en-US" dirty="0"/>
              <a:t>Multimodal RAG for Integrating Tabular, Text and Image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1613" y="3840025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tr-TR" dirty="0"/>
              <a:t>Second</a:t>
            </a:r>
            <a:r>
              <a:rPr lang="en-US" dirty="0"/>
              <a:t>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Taha Alparslan Atabey</a:t>
            </a:r>
          </a:p>
          <a:p>
            <a:endParaRPr lang="tr-TR" dirty="0"/>
          </a:p>
          <a:p>
            <a:r>
              <a:rPr lang="en-US" dirty="0"/>
              <a:t>Advisor: Asst. Prof. </a:t>
            </a:r>
            <a:r>
              <a:rPr lang="tr-TR" dirty="0"/>
              <a:t>Dr. Salih Sarp</a:t>
            </a:r>
          </a:p>
          <a:p>
            <a:r>
              <a:rPr lang="tr-TR" dirty="0"/>
              <a:t>April</a:t>
            </a:r>
            <a:r>
              <a:rPr lang="en-US" dirty="0"/>
              <a:t> 202</a:t>
            </a:r>
            <a:r>
              <a:rPr lang="tr-T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169" y="1327355"/>
            <a:ext cx="11637547" cy="5163403"/>
          </a:xfrm>
        </p:spPr>
        <p:txBody>
          <a:bodyPr/>
          <a:lstStyle/>
          <a:p>
            <a:r>
              <a:rPr lang="tr-TR" dirty="0"/>
              <a:t>Project Definition &amp; Architecture: </a:t>
            </a:r>
            <a:r>
              <a:rPr lang="tr-TR" dirty="0" err="1"/>
              <a:t>Recap</a:t>
            </a:r>
            <a:endParaRPr lang="tr-TR" dirty="0"/>
          </a:p>
          <a:p>
            <a:r>
              <a:rPr lang="tr-TR" dirty="0" err="1"/>
              <a:t>Bottlenecks</a:t>
            </a:r>
            <a:r>
              <a:rPr lang="tr-TR" dirty="0"/>
              <a:t> &amp; Solutions</a:t>
            </a:r>
          </a:p>
          <a:p>
            <a:pPr lvl="1"/>
            <a:r>
              <a:rPr lang="tr-TR" dirty="0" err="1"/>
              <a:t>Semantic</a:t>
            </a:r>
            <a:r>
              <a:rPr lang="tr-TR" dirty="0"/>
              <a:t> </a:t>
            </a:r>
            <a:r>
              <a:rPr lang="tr-TR" dirty="0" err="1"/>
              <a:t>Gap</a:t>
            </a:r>
            <a:r>
              <a:rPr lang="tr-TR" dirty="0"/>
              <a:t> in Dense </a:t>
            </a:r>
            <a:r>
              <a:rPr lang="tr-TR" dirty="0" err="1"/>
              <a:t>Retrieval</a:t>
            </a:r>
            <a:endParaRPr lang="tr-TR" dirty="0"/>
          </a:p>
          <a:p>
            <a:pPr lvl="1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Linearization</a:t>
            </a:r>
            <a:r>
              <a:rPr lang="tr-TR" dirty="0"/>
              <a:t> Problem</a:t>
            </a:r>
          </a:p>
          <a:p>
            <a:r>
              <a:rPr lang="tr-TR" dirty="0" err="1"/>
              <a:t>Automated</a:t>
            </a:r>
            <a:r>
              <a:rPr lang="tr-TR" dirty="0"/>
              <a:t> Data </a:t>
            </a:r>
            <a:r>
              <a:rPr lang="tr-TR" dirty="0" err="1"/>
              <a:t>Ingestion</a:t>
            </a:r>
            <a:endParaRPr lang="tr-TR" dirty="0"/>
          </a:p>
          <a:p>
            <a:r>
              <a:rPr lang="en-US" dirty="0"/>
              <a:t>Prove Evidence</a:t>
            </a:r>
            <a:endParaRPr lang="tr-TR" dirty="0"/>
          </a:p>
          <a:p>
            <a:r>
              <a:rPr lang="tr-TR" dirty="0" err="1"/>
              <a:t>To</a:t>
            </a:r>
            <a:r>
              <a:rPr lang="tr-TR" dirty="0"/>
              <a:t> Do &amp; </a:t>
            </a:r>
            <a:r>
              <a:rPr lang="tr-TR" dirty="0" err="1"/>
              <a:t>RoadMap</a:t>
            </a:r>
            <a:endParaRPr lang="tr-TR" dirty="0"/>
          </a:p>
          <a:p>
            <a:r>
              <a:rPr lang="tr-TR" dirty="0" err="1"/>
              <a:t>References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86171" y="232856"/>
            <a:ext cx="9755297" cy="760663"/>
          </a:xfrm>
        </p:spPr>
        <p:txBody>
          <a:bodyPr>
            <a:normAutofit fontScale="90000"/>
          </a:bodyPr>
          <a:lstStyle/>
          <a:p>
            <a:r>
              <a:rPr lang="tr-TR" dirty="0"/>
              <a:t>Project Definition &amp; Architecture: </a:t>
            </a:r>
            <a:r>
              <a:rPr lang="tr-TR" dirty="0" err="1"/>
              <a:t>Recap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286171" y="1567234"/>
            <a:ext cx="5283356" cy="471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900" b="1" dirty="0"/>
              <a:t>Problem: </a:t>
            </a:r>
            <a:r>
              <a:rPr lang="en-US" sz="2300" dirty="0"/>
              <a:t>Vital information is fragmented across disconnected formats </a:t>
            </a:r>
            <a:r>
              <a:rPr lang="tr-TR" sz="2300" dirty="0"/>
              <a:t>(</a:t>
            </a:r>
            <a:r>
              <a:rPr lang="en-US" sz="2300" dirty="0"/>
              <a:t>reports, analytical tables, and images</a:t>
            </a:r>
            <a:r>
              <a:rPr lang="tr-TR" sz="2300" dirty="0"/>
              <a:t>)</a:t>
            </a:r>
            <a:r>
              <a:rPr lang="en-US" sz="2300" dirty="0"/>
              <a:t> making accurate, fast analysis nearly impossible.</a:t>
            </a:r>
            <a:endParaRPr lang="tr-TR" sz="2300" dirty="0"/>
          </a:p>
          <a:p>
            <a:pPr algn="just"/>
            <a:endParaRPr lang="tr-TR" sz="2300" dirty="0"/>
          </a:p>
          <a:p>
            <a:pPr algn="just"/>
            <a:endParaRPr lang="tr-TR" sz="3000" dirty="0"/>
          </a:p>
          <a:p>
            <a:pPr algn="just"/>
            <a:r>
              <a:rPr lang="tr-TR" sz="2900" b="1" dirty="0" err="1"/>
              <a:t>Objective</a:t>
            </a:r>
            <a:r>
              <a:rPr lang="tr-TR" sz="2900" b="1" dirty="0"/>
              <a:t>: </a:t>
            </a:r>
            <a:r>
              <a:rPr lang="en-US" sz="2300" dirty="0"/>
              <a:t>Develop an intelligent system that integrates multi-format data and generates holistic answers to complex natural language queries.</a:t>
            </a:r>
            <a:endParaRPr lang="tr-TR" sz="2300" dirty="0"/>
          </a:p>
        </p:txBody>
      </p:sp>
      <p:pic>
        <p:nvPicPr>
          <p:cNvPr id="3" name="Resim 2" descr="metin, ekran görüntüsü, diyagram, yazı tipi içeren bir resim">
            <a:extLst>
              <a:ext uri="{FF2B5EF4-FFF2-40B4-BE49-F238E27FC236}">
                <a16:creationId xmlns:a16="http://schemas.microsoft.com/office/drawing/2014/main" id="{46A3D190-8FA2-E110-F0F8-4FD4AADF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475" y="1274036"/>
            <a:ext cx="4838397" cy="5304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3A61-7B2D-51E0-192C-BE48D6FB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>
            <a:extLst>
              <a:ext uri="{FF2B5EF4-FFF2-40B4-BE49-F238E27FC236}">
                <a16:creationId xmlns:a16="http://schemas.microsoft.com/office/drawing/2014/main" id="{AB7E2D08-4F16-BB89-6E2D-2512593C0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011" y="1434119"/>
            <a:ext cx="4125706" cy="4908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17A8E3-7698-88A3-559B-69088268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Bottlenecks</a:t>
            </a:r>
            <a:r>
              <a:rPr lang="tr-TR" dirty="0"/>
              <a:t> &amp; Solutions - </a:t>
            </a:r>
            <a:r>
              <a:rPr lang="tr-TR" sz="2800" dirty="0" err="1"/>
              <a:t>Semantic</a:t>
            </a:r>
            <a:r>
              <a:rPr lang="tr-TR" sz="2800" dirty="0"/>
              <a:t> </a:t>
            </a:r>
            <a:r>
              <a:rPr lang="tr-TR" sz="2800" dirty="0" err="1"/>
              <a:t>Gap</a:t>
            </a:r>
            <a:r>
              <a:rPr lang="tr-TR" sz="2800" dirty="0"/>
              <a:t> in Dense </a:t>
            </a:r>
            <a:r>
              <a:rPr lang="tr-TR" sz="2800" dirty="0" err="1"/>
              <a:t>Retrieval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EB18-7482-ABE8-7F05-74B30327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0DDFC-1A13-618F-CD5F-3E69AD23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/>
              <a:t>CSE496 – Second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2C186-D299-5647-212F-D4CEC201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2" name="İçerik Yer Tutucusu 2">
            <a:extLst>
              <a:ext uri="{FF2B5EF4-FFF2-40B4-BE49-F238E27FC236}">
                <a16:creationId xmlns:a16="http://schemas.microsoft.com/office/drawing/2014/main" id="{FABF2597-6A5A-B0F0-ED10-A122DEC192DB}"/>
              </a:ext>
            </a:extLst>
          </p:cNvPr>
          <p:cNvSpPr txBox="1">
            <a:spLocks/>
          </p:cNvSpPr>
          <p:nvPr/>
        </p:nvSpPr>
        <p:spPr>
          <a:xfrm>
            <a:off x="138449" y="1434119"/>
            <a:ext cx="7748279" cy="335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000" b="1" dirty="0"/>
              <a:t>Problem: </a:t>
            </a:r>
            <a:r>
              <a:rPr lang="tr-TR" sz="2000" dirty="0" err="1"/>
              <a:t>Military</a:t>
            </a:r>
            <a:r>
              <a:rPr lang="tr-TR" sz="2000" dirty="0"/>
              <a:t> Standard </a:t>
            </a:r>
            <a:r>
              <a:rPr lang="tr-TR" sz="2000" dirty="0" err="1"/>
              <a:t>Documents</a:t>
            </a:r>
            <a:r>
              <a:rPr lang="en-US" sz="2000" dirty="0"/>
              <a:t> uses regulatory language. </a:t>
            </a:r>
            <a:r>
              <a:rPr lang="tr-TR" sz="2000" dirty="0"/>
              <a:t>But u</a:t>
            </a:r>
            <a:r>
              <a:rPr lang="en-US" sz="2000" dirty="0" err="1"/>
              <a:t>sers</a:t>
            </a:r>
            <a:r>
              <a:rPr lang="en-US" sz="2000" dirty="0"/>
              <a:t> ask in natural language.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</a:t>
            </a:r>
            <a:r>
              <a:rPr lang="tr-TR" sz="2000" dirty="0" err="1"/>
              <a:t>Example</a:t>
            </a:r>
            <a:r>
              <a:rPr lang="tr-TR" sz="2000" dirty="0"/>
              <a:t>:</a:t>
            </a:r>
          </a:p>
          <a:p>
            <a:pPr lvl="1" algn="just"/>
            <a:r>
              <a:rPr lang="tr-TR" sz="1800" b="1" dirty="0" err="1"/>
              <a:t>From</a:t>
            </a:r>
            <a:r>
              <a:rPr lang="tr-TR" sz="1800" b="1" dirty="0"/>
              <a:t> </a:t>
            </a:r>
            <a:r>
              <a:rPr lang="tr-TR" sz="1800" b="1" dirty="0" err="1"/>
              <a:t>Documents</a:t>
            </a:r>
            <a:r>
              <a:rPr lang="tr-TR" sz="1800" b="1" dirty="0"/>
              <a:t>: </a:t>
            </a:r>
            <a:r>
              <a:rPr lang="en-US" sz="1800" dirty="0"/>
              <a:t>Compatibility Group B mixed with Group F: PERMITTED</a:t>
            </a:r>
            <a:r>
              <a:rPr lang="tr-TR" sz="1800" dirty="0"/>
              <a:t>. </a:t>
            </a:r>
          </a:p>
          <a:p>
            <a:pPr lvl="1" algn="just"/>
            <a:r>
              <a:rPr lang="tr-TR" sz="1800" b="1" dirty="0" err="1"/>
              <a:t>From</a:t>
            </a:r>
            <a:r>
              <a:rPr lang="tr-TR" sz="1800" b="1" dirty="0"/>
              <a:t> User:            </a:t>
            </a:r>
            <a:r>
              <a:rPr lang="en-US" sz="1800" dirty="0"/>
              <a:t>Can Group B be stored with Group F?</a:t>
            </a:r>
            <a:r>
              <a:rPr lang="tr-TR" sz="1800" dirty="0"/>
              <a:t> </a:t>
            </a:r>
          </a:p>
          <a:p>
            <a:pPr marL="0" indent="0" algn="just">
              <a:buNone/>
            </a:pPr>
            <a:r>
              <a:rPr lang="tr-TR" sz="2000" dirty="0"/>
              <a:t>	&gt; </a:t>
            </a:r>
            <a:r>
              <a:rPr lang="tr-TR" sz="2000" dirty="0" err="1"/>
              <a:t>Same</a:t>
            </a:r>
            <a:r>
              <a:rPr lang="tr-TR" sz="2000" dirty="0"/>
              <a:t> </a:t>
            </a:r>
            <a:r>
              <a:rPr lang="tr-TR" sz="2000" dirty="0" err="1"/>
              <a:t>meaning</a:t>
            </a:r>
            <a:r>
              <a:rPr lang="tr-TR" sz="2000" dirty="0"/>
              <a:t> but </a:t>
            </a:r>
            <a:r>
              <a:rPr lang="tr-TR" sz="2000" dirty="0" err="1"/>
              <a:t>different</a:t>
            </a:r>
            <a:r>
              <a:rPr lang="tr-TR" sz="2000" dirty="0"/>
              <a:t> </a:t>
            </a:r>
            <a:r>
              <a:rPr lang="tr-TR" sz="2000" dirty="0" err="1"/>
              <a:t>embedding</a:t>
            </a:r>
            <a:r>
              <a:rPr lang="tr-TR" sz="2000" dirty="0"/>
              <a:t> </a:t>
            </a:r>
            <a:r>
              <a:rPr lang="tr-TR" sz="2000" dirty="0" err="1"/>
              <a:t>space</a:t>
            </a:r>
            <a:r>
              <a:rPr lang="tr-TR" sz="2000" dirty="0"/>
              <a:t>. → </a:t>
            </a:r>
            <a:r>
              <a:rPr lang="tr-TR" sz="2000" b="1" dirty="0" err="1"/>
              <a:t>Wrong</a:t>
            </a:r>
            <a:r>
              <a:rPr lang="tr-TR" sz="2000" b="1" dirty="0"/>
              <a:t> </a:t>
            </a:r>
            <a:r>
              <a:rPr lang="tr-TR" sz="2000" b="1" dirty="0" err="1"/>
              <a:t>Table</a:t>
            </a:r>
            <a:r>
              <a:rPr lang="tr-TR" sz="2000" b="1" dirty="0"/>
              <a:t> </a:t>
            </a:r>
            <a:r>
              <a:rPr lang="tr-TR" sz="2000" b="1" dirty="0" err="1"/>
              <a:t>Retrieved</a:t>
            </a:r>
            <a:endParaRPr lang="tr-TR" sz="2000" b="1" dirty="0"/>
          </a:p>
          <a:p>
            <a:pPr algn="just"/>
            <a:endParaRPr lang="tr-TR" sz="2000" b="1" dirty="0"/>
          </a:p>
          <a:p>
            <a:pPr algn="just"/>
            <a:r>
              <a:rPr lang="tr-TR" sz="2000" b="1" dirty="0"/>
              <a:t>Solution: </a:t>
            </a:r>
            <a:r>
              <a:rPr lang="tr-TR" sz="2000" dirty="0"/>
              <a:t>Two-</a:t>
            </a:r>
            <a:r>
              <a:rPr lang="tr-TR" sz="2000" dirty="0" err="1"/>
              <a:t>Stage</a:t>
            </a:r>
            <a:r>
              <a:rPr lang="tr-TR" sz="2000" dirty="0"/>
              <a:t> </a:t>
            </a:r>
            <a:r>
              <a:rPr lang="tr-TR" sz="2000" dirty="0" err="1"/>
              <a:t>Retrieval</a:t>
            </a:r>
            <a:r>
              <a:rPr lang="tr-TR" sz="2000" dirty="0"/>
              <a:t> </a:t>
            </a:r>
            <a:r>
              <a:rPr lang="tr-TR" sz="2000" dirty="0" err="1"/>
              <a:t>Pipeline</a:t>
            </a:r>
            <a:endParaRPr lang="tr-TR" sz="2000" dirty="0"/>
          </a:p>
          <a:p>
            <a:pPr lvl="1" algn="just"/>
            <a:r>
              <a:rPr lang="en-US" sz="1800" dirty="0"/>
              <a:t>A bi-encoder first casts a wide net (top-12), then a local cross-encoder re-scores each (query, document) pair together</a:t>
            </a:r>
            <a:r>
              <a:rPr lang="tr-TR" sz="1800" dirty="0"/>
              <a:t> - </a:t>
            </a:r>
            <a:r>
              <a:rPr lang="en-US" sz="1800" dirty="0"/>
              <a:t>resolving abbreviation and paraphrase mismatches</a:t>
            </a:r>
            <a:r>
              <a:rPr lang="tr-TR" sz="1800" dirty="0"/>
              <a:t>.</a:t>
            </a:r>
          </a:p>
        </p:txBody>
      </p:sp>
      <p:graphicFrame>
        <p:nvGraphicFramePr>
          <p:cNvPr id="22" name="Tablo 21">
            <a:extLst>
              <a:ext uri="{FF2B5EF4-FFF2-40B4-BE49-F238E27FC236}">
                <a16:creationId xmlns:a16="http://schemas.microsoft.com/office/drawing/2014/main" id="{5379800B-1597-80A0-FCCB-EE7B689A2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61124"/>
              </p:ext>
            </p:extLst>
          </p:nvPr>
        </p:nvGraphicFramePr>
        <p:xfrm>
          <a:off x="2369574" y="4844521"/>
          <a:ext cx="4267200" cy="1828800"/>
        </p:xfrm>
        <a:graphic>
          <a:graphicData uri="http://schemas.openxmlformats.org/drawingml/2006/table">
            <a:tbl>
              <a:tblPr/>
              <a:tblGrid>
                <a:gridCol w="1415845">
                  <a:extLst>
                    <a:ext uri="{9D8B030D-6E8A-4147-A177-3AD203B41FA5}">
                      <a16:colId xmlns:a16="http://schemas.microsoft.com/office/drawing/2014/main" val="165707477"/>
                    </a:ext>
                  </a:extLst>
                </a:gridCol>
                <a:gridCol w="737420">
                  <a:extLst>
                    <a:ext uri="{9D8B030D-6E8A-4147-A177-3AD203B41FA5}">
                      <a16:colId xmlns:a16="http://schemas.microsoft.com/office/drawing/2014/main" val="1508729469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val="1038950551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4176110908"/>
                    </a:ext>
                  </a:extLst>
                </a:gridCol>
              </a:tblGrid>
              <a:tr h="4229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Method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HR@3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MRR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</a:t>
                      </a:r>
                      <a:endParaRPr lang="tr-T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141579"/>
                  </a:ext>
                </a:extLst>
              </a:tr>
              <a:tr h="4229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Semantic-only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0.633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0.461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593306"/>
                  </a:ext>
                </a:extLst>
              </a:tr>
              <a:tr h="4229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Cross-</a:t>
                      </a:r>
                      <a:r>
                        <a:rPr lang="tr-TR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encoder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0.867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0.811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430240"/>
                  </a:ext>
                </a:extLst>
              </a:tr>
              <a:tr h="4229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HyDE</a:t>
                      </a:r>
                      <a:r>
                        <a:rPr lang="tr-T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tr-TR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Groq</a:t>
                      </a:r>
                      <a:r>
                        <a:rPr lang="tr-T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~0.90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~0.85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~500 tok/</a:t>
                      </a:r>
                      <a:r>
                        <a:rPr lang="tr-TR" sz="1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query</a:t>
                      </a:r>
                      <a:endParaRPr lang="tr-T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9618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Mürekkep 2">
                <a:extLst>
                  <a:ext uri="{FF2B5EF4-FFF2-40B4-BE49-F238E27FC236}">
                    <a16:creationId xmlns:a16="http://schemas.microsoft.com/office/drawing/2014/main" id="{79CB5DDA-9CA0-4710-8EDB-AF9C019A614C}"/>
                  </a:ext>
                </a:extLst>
              </p14:cNvPr>
              <p14:cNvContentPartPr/>
              <p14:nvPr/>
            </p14:nvContentPartPr>
            <p14:xfrm>
              <a:off x="2369574" y="5987748"/>
              <a:ext cx="4120916" cy="360"/>
            </p14:xfrm>
          </p:contentPart>
        </mc:Choice>
        <mc:Fallback xmlns="">
          <p:pic>
            <p:nvPicPr>
              <p:cNvPr id="3" name="Mürekkep 2">
                <a:extLst>
                  <a:ext uri="{FF2B5EF4-FFF2-40B4-BE49-F238E27FC236}">
                    <a16:creationId xmlns:a16="http://schemas.microsoft.com/office/drawing/2014/main" id="{79CB5DDA-9CA0-4710-8EDB-AF9C019A61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5569" y="5879748"/>
                <a:ext cx="4228565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5844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7B42-C6EF-2FC0-9483-F8961BB8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0C3A-CD20-3547-CF3F-71F9833C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Bottlenecks</a:t>
            </a:r>
            <a:r>
              <a:rPr lang="tr-TR" dirty="0"/>
              <a:t> &amp; Solutions - </a:t>
            </a:r>
            <a:r>
              <a:rPr lang="tr-TR" sz="3100" dirty="0" err="1"/>
              <a:t>The</a:t>
            </a:r>
            <a:r>
              <a:rPr lang="tr-TR" sz="3100" dirty="0"/>
              <a:t> </a:t>
            </a:r>
            <a:r>
              <a:rPr lang="tr-TR" sz="3100" dirty="0" err="1"/>
              <a:t>Linearization</a:t>
            </a:r>
            <a:r>
              <a:rPr lang="tr-TR" sz="3100" dirty="0"/>
              <a:t> Problem</a:t>
            </a:r>
            <a:endParaRPr lang="en-US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50A6-3075-6EF9-3009-34FC88DB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8DED-537C-1061-30A1-00D266D7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/>
              <a:t>CSE496 – Second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983BC-BFE6-6DA5-F7A9-49503598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2" name="İçerik Yer Tutucusu 2">
            <a:extLst>
              <a:ext uri="{FF2B5EF4-FFF2-40B4-BE49-F238E27FC236}">
                <a16:creationId xmlns:a16="http://schemas.microsoft.com/office/drawing/2014/main" id="{32F9DC6E-88C3-3F35-6757-A77949AAEB61}"/>
              </a:ext>
            </a:extLst>
          </p:cNvPr>
          <p:cNvSpPr txBox="1">
            <a:spLocks/>
          </p:cNvSpPr>
          <p:nvPr/>
        </p:nvSpPr>
        <p:spPr>
          <a:xfrm>
            <a:off x="286170" y="1529541"/>
            <a:ext cx="7748279" cy="4671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300" b="1" dirty="0" err="1"/>
              <a:t>Problems</a:t>
            </a:r>
            <a:endParaRPr lang="tr-TR" sz="2300" b="1" dirty="0"/>
          </a:p>
          <a:p>
            <a:pPr lvl="1" algn="just"/>
            <a:r>
              <a:rPr lang="en-US" sz="1900" dirty="0"/>
              <a:t>Tables encode meaning via </a:t>
            </a:r>
            <a:r>
              <a:rPr lang="en-US" sz="1900" b="1" dirty="0"/>
              <a:t>row–column structure</a:t>
            </a:r>
            <a:r>
              <a:rPr lang="en-US" sz="1900" dirty="0"/>
              <a:t>, not plain text.</a:t>
            </a:r>
            <a:endParaRPr lang="tr-TR" sz="1900" dirty="0"/>
          </a:p>
          <a:p>
            <a:pPr lvl="1" algn="just"/>
            <a:r>
              <a:rPr lang="en-US" sz="1900" dirty="0"/>
              <a:t>HTML embeddings </a:t>
            </a:r>
            <a:r>
              <a:rPr lang="en-US" sz="1900" b="1" dirty="0"/>
              <a:t>lose semantic structure</a:t>
            </a:r>
            <a:r>
              <a:rPr lang="en-US" sz="1900" dirty="0"/>
              <a:t>.</a:t>
            </a:r>
            <a:endParaRPr lang="tr-TR" sz="1900" dirty="0"/>
          </a:p>
          <a:p>
            <a:pPr lvl="1" algn="just"/>
            <a:r>
              <a:rPr lang="en-US" sz="1900" b="1" dirty="0"/>
              <a:t>Cross-page</a:t>
            </a:r>
            <a:r>
              <a:rPr lang="en-US" sz="1900" dirty="0"/>
              <a:t> NOTES can be missed, causing incorrect decisions.</a:t>
            </a:r>
            <a:endParaRPr lang="tr-TR" sz="1900" b="1" dirty="0"/>
          </a:p>
          <a:p>
            <a:pPr marL="0" indent="0" algn="just">
              <a:buNone/>
            </a:pPr>
            <a:endParaRPr lang="tr-TR" sz="2000" b="1" dirty="0"/>
          </a:p>
          <a:p>
            <a:pPr algn="just"/>
            <a:r>
              <a:rPr lang="tr-TR" sz="2300" b="1" dirty="0"/>
              <a:t>Solution</a:t>
            </a:r>
          </a:p>
          <a:p>
            <a:pPr lvl="1" algn="just"/>
            <a:r>
              <a:rPr lang="fr-FR" sz="2000" b="1" dirty="0" err="1"/>
              <a:t>TableContextAssembler</a:t>
            </a:r>
            <a:r>
              <a:rPr lang="tr-TR" sz="1800" dirty="0"/>
              <a:t> </a:t>
            </a:r>
            <a:r>
              <a:rPr lang="tr-TR" sz="1800" dirty="0" err="1"/>
              <a:t>Script</a:t>
            </a:r>
            <a:r>
              <a:rPr lang="tr-TR" sz="1800" dirty="0"/>
              <a:t> </a:t>
            </a:r>
            <a:r>
              <a:rPr lang="fr-FR" sz="1800" dirty="0"/>
              <a:t>merges </a:t>
            </a:r>
            <a:r>
              <a:rPr lang="tr-TR" sz="1800" dirty="0"/>
              <a:t>TABLE</a:t>
            </a:r>
            <a:r>
              <a:rPr lang="fr-FR" sz="1800" dirty="0"/>
              <a:t> + NOTES + LEGEND </a:t>
            </a:r>
            <a:r>
              <a:rPr lang="fr-FR" sz="1800" dirty="0" err="1"/>
              <a:t>across</a:t>
            </a:r>
            <a:r>
              <a:rPr lang="fr-FR" sz="1800" dirty="0"/>
              <a:t> pages</a:t>
            </a:r>
            <a:endParaRPr lang="tr-TR" sz="1800" dirty="0"/>
          </a:p>
          <a:p>
            <a:pPr lvl="1" algn="just"/>
            <a:r>
              <a:rPr lang="tr-TR" sz="2000" b="1" dirty="0"/>
              <a:t>Multi-</a:t>
            </a:r>
            <a:r>
              <a:rPr lang="tr-TR" sz="2000" b="1" dirty="0" err="1"/>
              <a:t>Vector</a:t>
            </a:r>
            <a:r>
              <a:rPr lang="tr-TR" sz="2000" b="1" dirty="0"/>
              <a:t> </a:t>
            </a:r>
            <a:r>
              <a:rPr lang="tr-TR" sz="2000" b="1" dirty="0" err="1"/>
              <a:t>Indexing</a:t>
            </a:r>
            <a:r>
              <a:rPr lang="tr-TR" sz="2000" b="1" dirty="0"/>
              <a:t>: </a:t>
            </a:r>
          </a:p>
          <a:p>
            <a:pPr lvl="2" algn="just"/>
            <a:r>
              <a:rPr lang="tr-TR" sz="1600" dirty="0" err="1"/>
              <a:t>Summary</a:t>
            </a:r>
            <a:r>
              <a:rPr lang="tr-TR" sz="1600" dirty="0"/>
              <a:t> (LLM) →  </a:t>
            </a:r>
            <a:r>
              <a:rPr lang="tr-TR" sz="1600" dirty="0" err="1"/>
              <a:t>semantic</a:t>
            </a:r>
            <a:r>
              <a:rPr lang="tr-TR" sz="1600" dirty="0"/>
              <a:t> </a:t>
            </a:r>
            <a:r>
              <a:rPr lang="tr-TR" sz="1600" dirty="0" err="1"/>
              <a:t>search</a:t>
            </a:r>
            <a:endParaRPr lang="tr-TR" sz="1600" dirty="0"/>
          </a:p>
          <a:p>
            <a:pPr lvl="2" algn="just"/>
            <a:r>
              <a:rPr lang="en-US" sz="1600" dirty="0"/>
              <a:t>Raw table data </a:t>
            </a:r>
            <a:r>
              <a:rPr lang="tr-TR" sz="1600" dirty="0"/>
              <a:t>  </a:t>
            </a:r>
            <a:r>
              <a:rPr lang="en-US" sz="1600" dirty="0"/>
              <a:t>→ accurate final answer</a:t>
            </a:r>
            <a:endParaRPr lang="tr-TR" sz="160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6C3C648-2485-96A5-36BB-38EE353B8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500" y="2261268"/>
            <a:ext cx="3810330" cy="32082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717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E10D-5C3F-80EF-0387-655245E8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5A85-C727-7CD2-6DE3-556CA37E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Automated</a:t>
            </a:r>
            <a:r>
              <a:rPr lang="tr-TR" dirty="0"/>
              <a:t> Data </a:t>
            </a:r>
            <a:r>
              <a:rPr lang="tr-TR" dirty="0" err="1"/>
              <a:t>Ingestion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5AED9-0F6A-BC1C-1834-B9979A26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1262F-97AD-3CFB-D891-97110640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/>
              <a:t>CSE496 – Second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DE06-154D-06B7-64D2-99A28B42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61D03443-3899-7CEA-9DEC-B0356AA2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407" y="1802232"/>
            <a:ext cx="7743651" cy="3926358"/>
          </a:xfrm>
          <a:prstGeom prst="rect">
            <a:avLst/>
          </a:prstGeom>
        </p:spPr>
      </p:pic>
      <p:sp>
        <p:nvSpPr>
          <p:cNvPr id="12" name="İçerik Yer Tutucusu 2">
            <a:extLst>
              <a:ext uri="{FF2B5EF4-FFF2-40B4-BE49-F238E27FC236}">
                <a16:creationId xmlns:a16="http://schemas.microsoft.com/office/drawing/2014/main" id="{E7C0F4F3-2896-F490-0FD3-FB4CF7D3D982}"/>
              </a:ext>
            </a:extLst>
          </p:cNvPr>
          <p:cNvSpPr txBox="1">
            <a:spLocks/>
          </p:cNvSpPr>
          <p:nvPr/>
        </p:nvSpPr>
        <p:spPr>
          <a:xfrm>
            <a:off x="135942" y="2010137"/>
            <a:ext cx="4037047" cy="383220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200" b="1" dirty="0" err="1"/>
              <a:t>From</a:t>
            </a:r>
            <a:r>
              <a:rPr lang="tr-TR" sz="2200" b="1" dirty="0"/>
              <a:t> Manual </a:t>
            </a:r>
            <a:r>
              <a:rPr lang="tr-TR" sz="2200" b="1" dirty="0" err="1"/>
              <a:t>to</a:t>
            </a:r>
            <a:r>
              <a:rPr lang="tr-TR" sz="2200" b="1" dirty="0"/>
              <a:t> API: </a:t>
            </a:r>
            <a:r>
              <a:rPr lang="tr-TR" sz="2200" dirty="0" err="1"/>
              <a:t>Replaced</a:t>
            </a:r>
            <a:r>
              <a:rPr lang="tr-TR" sz="2200" dirty="0"/>
              <a:t> 20-page web demo limit </a:t>
            </a:r>
            <a:r>
              <a:rPr lang="tr-TR" sz="2200" dirty="0" err="1"/>
              <a:t>with</a:t>
            </a:r>
            <a:r>
              <a:rPr lang="tr-TR" sz="2200" dirty="0"/>
              <a:t> </a:t>
            </a:r>
            <a:r>
              <a:rPr lang="tr-TR" sz="2200" dirty="0" err="1"/>
              <a:t>automated</a:t>
            </a:r>
            <a:r>
              <a:rPr lang="tr-TR" sz="2200" dirty="0"/>
              <a:t> API </a:t>
            </a:r>
            <a:r>
              <a:rPr lang="tr-TR" sz="2200" dirty="0" err="1"/>
              <a:t>calls</a:t>
            </a:r>
            <a:r>
              <a:rPr lang="tr-TR" sz="2200" dirty="0"/>
              <a:t>.</a:t>
            </a:r>
          </a:p>
          <a:p>
            <a:pPr algn="just"/>
            <a:endParaRPr lang="tr-TR" sz="2200" dirty="0"/>
          </a:p>
          <a:p>
            <a:pPr algn="just"/>
            <a:r>
              <a:rPr lang="tr-TR" sz="2200" b="1" dirty="0" err="1"/>
              <a:t>Batch</a:t>
            </a:r>
            <a:r>
              <a:rPr lang="tr-TR" sz="2200" b="1" dirty="0"/>
              <a:t> </a:t>
            </a:r>
            <a:r>
              <a:rPr lang="tr-TR" sz="2200" b="1" dirty="0" err="1"/>
              <a:t>Processing</a:t>
            </a:r>
            <a:r>
              <a:rPr lang="tr-TR" sz="2200" b="1" dirty="0"/>
              <a:t>: </a:t>
            </a:r>
            <a:r>
              <a:rPr lang="tr-TR" sz="2200" dirty="0"/>
              <a:t>PDF is </a:t>
            </a:r>
            <a:r>
              <a:rPr lang="tr-TR" sz="2200" dirty="0" err="1"/>
              <a:t>split</a:t>
            </a:r>
            <a:r>
              <a:rPr lang="tr-TR" sz="2200" dirty="0"/>
              <a:t> </a:t>
            </a:r>
            <a:r>
              <a:rPr lang="tr-TR" sz="2200" dirty="0" err="1"/>
              <a:t>into</a:t>
            </a:r>
            <a:r>
              <a:rPr lang="tr-TR" sz="2200" dirty="0"/>
              <a:t> 50-page </a:t>
            </a:r>
            <a:r>
              <a:rPr lang="tr-TR" sz="2200" dirty="0" err="1"/>
              <a:t>chunks</a:t>
            </a:r>
            <a:r>
              <a:rPr lang="tr-TR" sz="2200" dirty="0"/>
              <a:t> </a:t>
            </a:r>
            <a:r>
              <a:rPr lang="tr-TR" sz="2200" dirty="0" err="1"/>
              <a:t>for</a:t>
            </a:r>
            <a:r>
              <a:rPr lang="tr-TR" sz="2200" dirty="0"/>
              <a:t> </a:t>
            </a:r>
            <a:r>
              <a:rPr lang="tr-TR" sz="2200" dirty="0" err="1"/>
              <a:t>parallel</a:t>
            </a:r>
            <a:r>
              <a:rPr lang="tr-TR" sz="2200" dirty="0"/>
              <a:t> </a:t>
            </a:r>
            <a:r>
              <a:rPr lang="tr-TR" sz="2200" dirty="0" err="1"/>
              <a:t>processing</a:t>
            </a:r>
            <a:r>
              <a:rPr lang="tr-TR" sz="2200" dirty="0"/>
              <a:t>.</a:t>
            </a:r>
          </a:p>
          <a:p>
            <a:pPr algn="just"/>
            <a:endParaRPr lang="tr-TR" sz="2200" b="1" dirty="0"/>
          </a:p>
          <a:p>
            <a:pPr algn="just"/>
            <a:r>
              <a:rPr lang="tr-TR" sz="2200" b="1" dirty="0" err="1"/>
              <a:t>Resume</a:t>
            </a:r>
            <a:r>
              <a:rPr lang="tr-TR" sz="2200" b="1" dirty="0"/>
              <a:t> </a:t>
            </a:r>
            <a:r>
              <a:rPr lang="tr-TR" sz="2200" b="1" dirty="0" err="1"/>
              <a:t>Support</a:t>
            </a:r>
            <a:r>
              <a:rPr lang="tr-TR" sz="2200" b="1" dirty="0"/>
              <a:t>: </a:t>
            </a:r>
            <a:r>
              <a:rPr lang="tr-TR" sz="2200" dirty="0" err="1"/>
              <a:t>Pipeline</a:t>
            </a:r>
            <a:r>
              <a:rPr lang="tr-TR" sz="2200" dirty="0"/>
              <a:t> can </a:t>
            </a:r>
            <a:r>
              <a:rPr lang="tr-TR" sz="2200" dirty="0" err="1"/>
              <a:t>recover</a:t>
            </a:r>
            <a:r>
              <a:rPr lang="tr-TR" sz="2200" dirty="0"/>
              <a:t> </a:t>
            </a:r>
            <a:r>
              <a:rPr lang="tr-TR" sz="2200" dirty="0" err="1"/>
              <a:t>from</a:t>
            </a:r>
            <a:r>
              <a:rPr lang="tr-TR" sz="2200" dirty="0"/>
              <a:t> </a:t>
            </a:r>
            <a:r>
              <a:rPr lang="tr-TR" sz="2200" dirty="0" err="1"/>
              <a:t>failures</a:t>
            </a:r>
            <a:r>
              <a:rPr lang="tr-TR" sz="2200" dirty="0"/>
              <a:t> at </a:t>
            </a:r>
            <a:r>
              <a:rPr lang="tr-TR" sz="2200" dirty="0" err="1"/>
              <a:t>specific</a:t>
            </a:r>
            <a:r>
              <a:rPr lang="tr-TR" sz="2200" dirty="0"/>
              <a:t> </a:t>
            </a:r>
            <a:r>
              <a:rPr lang="tr-TR" sz="2200" dirty="0" err="1"/>
              <a:t>page</a:t>
            </a:r>
            <a:r>
              <a:rPr lang="tr-TR" sz="2200" dirty="0"/>
              <a:t> </a:t>
            </a:r>
            <a:r>
              <a:rPr lang="tr-TR" sz="2200" dirty="0" err="1"/>
              <a:t>indices</a:t>
            </a:r>
            <a:r>
              <a:rPr lang="tr-TR" sz="2200" dirty="0"/>
              <a:t>.</a:t>
            </a:r>
          </a:p>
          <a:p>
            <a:pPr algn="just"/>
            <a:endParaRPr lang="tr-TR" sz="2200" b="1" dirty="0"/>
          </a:p>
          <a:p>
            <a:pPr algn="just"/>
            <a:r>
              <a:rPr lang="tr-TR" sz="2200" b="1" dirty="0" err="1"/>
              <a:t>One-Click</a:t>
            </a:r>
            <a:r>
              <a:rPr lang="tr-TR" sz="2200" b="1" dirty="0"/>
              <a:t> KB: </a:t>
            </a:r>
            <a:r>
              <a:rPr lang="tr-TR" sz="2200" dirty="0"/>
              <a:t>User </a:t>
            </a:r>
            <a:r>
              <a:rPr lang="tr-TR" sz="2200" dirty="0" err="1"/>
              <a:t>uploads</a:t>
            </a:r>
            <a:r>
              <a:rPr lang="tr-TR" sz="2200" dirty="0"/>
              <a:t> PDF </a:t>
            </a:r>
            <a:r>
              <a:rPr lang="tr-TR" sz="2200" dirty="0" err="1"/>
              <a:t>to</a:t>
            </a:r>
            <a:r>
              <a:rPr lang="tr-TR" sz="2200" dirty="0"/>
              <a:t> </a:t>
            </a:r>
            <a:r>
              <a:rPr lang="tr-TR" sz="2200" dirty="0" err="1"/>
              <a:t>System</a:t>
            </a:r>
            <a:r>
              <a:rPr lang="tr-TR" sz="2200" dirty="0"/>
              <a:t> </a:t>
            </a:r>
            <a:r>
              <a:rPr lang="tr-TR" sz="2200" dirty="0" err="1"/>
              <a:t>generates</a:t>
            </a:r>
            <a:r>
              <a:rPr lang="tr-TR" sz="2200" dirty="0"/>
              <a:t> </a:t>
            </a:r>
            <a:r>
              <a:rPr lang="tr-TR" sz="2200" dirty="0" err="1"/>
              <a:t>full</a:t>
            </a:r>
            <a:r>
              <a:rPr lang="tr-TR" sz="2200" dirty="0"/>
              <a:t> Knowledge Base. </a:t>
            </a:r>
          </a:p>
        </p:txBody>
      </p:sp>
    </p:spTree>
    <p:extLst>
      <p:ext uri="{BB962C8B-B14F-4D97-AF65-F5344CB8AC3E}">
        <p14:creationId xmlns:p14="http://schemas.microsoft.com/office/powerpoint/2010/main" val="27639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1BEF-54B3-7802-5C26-955AE3E1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54E1-5D31-798D-3F2B-188BCAE5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Prove Evidence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E1B86-892C-3CDA-88B0-62F23641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E278-0F65-5C23-2F62-B9B3C9B0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Second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04D2-D94F-034D-4907-F07794D7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7176BA6-D8F0-90B4-E5AC-840B7243C2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222579"/>
              </p:ext>
            </p:extLst>
          </p:nvPr>
        </p:nvGraphicFramePr>
        <p:xfrm>
          <a:off x="286169" y="1409700"/>
          <a:ext cx="11637547" cy="4991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Resim 6">
            <a:extLst>
              <a:ext uri="{FF2B5EF4-FFF2-40B4-BE49-F238E27FC236}">
                <a16:creationId xmlns:a16="http://schemas.microsoft.com/office/drawing/2014/main" id="{FF1054FE-001B-6B06-D7D6-32EB368401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356" y="1464400"/>
            <a:ext cx="2792925" cy="4813733"/>
          </a:xfrm>
          <a:prstGeom prst="rect">
            <a:avLst/>
          </a:prstGeom>
        </p:spPr>
      </p:pic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87288492-E97A-1488-80E3-5F1079365F49}"/>
              </a:ext>
            </a:extLst>
          </p:cNvPr>
          <p:cNvSpPr txBox="1">
            <a:spLocks/>
          </p:cNvSpPr>
          <p:nvPr/>
        </p:nvSpPr>
        <p:spPr>
          <a:xfrm>
            <a:off x="378215" y="1484453"/>
            <a:ext cx="7402498" cy="4662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200" b="1" dirty="0" err="1"/>
              <a:t>Transparency</a:t>
            </a:r>
            <a:r>
              <a:rPr lang="tr-TR" sz="2200" b="1" dirty="0"/>
              <a:t> </a:t>
            </a:r>
            <a:r>
              <a:rPr lang="tr-TR" sz="2200" b="1" dirty="0" err="1"/>
              <a:t>by</a:t>
            </a:r>
            <a:r>
              <a:rPr lang="tr-TR" sz="2200" b="1" dirty="0"/>
              <a:t> Design</a:t>
            </a:r>
          </a:p>
          <a:p>
            <a:pPr lvl="1" algn="just"/>
            <a:r>
              <a:rPr lang="en-US" sz="1900" dirty="0"/>
              <a:t>Large language models can hallucinate. In a compliance context where a wrong verdict can have real safety consequences the user should never be expected to simply trust the system's output.</a:t>
            </a:r>
            <a:endParaRPr lang="tr-TR" sz="1900" dirty="0"/>
          </a:p>
          <a:p>
            <a:pPr algn="just"/>
            <a:endParaRPr lang="tr-TR" sz="2200" dirty="0"/>
          </a:p>
          <a:p>
            <a:pPr algn="just"/>
            <a:r>
              <a:rPr lang="en-US" sz="2100" dirty="0"/>
              <a:t>The </a:t>
            </a:r>
            <a:r>
              <a:rPr lang="en-US" sz="2100" b="1" dirty="0"/>
              <a:t>Prove Evidence </a:t>
            </a:r>
            <a:r>
              <a:rPr lang="en-US" sz="2100" dirty="0"/>
              <a:t>feature is built on this principle: every audit result is accompanied by the exact page and table from the original NATO document that the system used to reach its conclusion.</a:t>
            </a:r>
            <a:endParaRPr lang="tr-TR" sz="2100" b="1" dirty="0"/>
          </a:p>
          <a:p>
            <a:pPr lvl="1" algn="just"/>
            <a:r>
              <a:rPr lang="en-US" sz="1900" dirty="0"/>
              <a:t>This is not a debugging tool</a:t>
            </a:r>
            <a:r>
              <a:rPr lang="tr-TR" sz="1900" dirty="0"/>
              <a:t>.</a:t>
            </a:r>
          </a:p>
          <a:p>
            <a:pPr lvl="1" algn="just"/>
            <a:r>
              <a:rPr lang="en-US" sz="1900" dirty="0"/>
              <a:t>It is a deliberate design choice: the system's job is to accelerate the lookup</a:t>
            </a:r>
            <a:r>
              <a:rPr lang="tr-TR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755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6088-CB00-ABF7-C0A2-CB8CC1B2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86C3-5D2A-B0BC-1566-E65DEB37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To</a:t>
            </a:r>
            <a:r>
              <a:rPr lang="tr-TR" dirty="0"/>
              <a:t> Do &amp; </a:t>
            </a:r>
            <a:r>
              <a:rPr lang="tr-TR" dirty="0" err="1"/>
              <a:t>RoadMap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2939F-F3A0-BCE7-B077-9409B052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705C-21D2-3735-0DD0-9548577D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Second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AAF69-A1DD-3079-E204-59E21AD0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B9D6A28-6E2C-CB9E-291D-1EA4DF9972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6169" y="1409700"/>
          <a:ext cx="11637547" cy="4991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D8167B-05FB-9906-D461-249B08C13673}"/>
              </a:ext>
            </a:extLst>
          </p:cNvPr>
          <p:cNvSpPr txBox="1">
            <a:spLocks/>
          </p:cNvSpPr>
          <p:nvPr/>
        </p:nvSpPr>
        <p:spPr>
          <a:xfrm>
            <a:off x="378214" y="1409700"/>
            <a:ext cx="11392607" cy="48684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 err="1"/>
              <a:t>Local</a:t>
            </a:r>
            <a:r>
              <a:rPr lang="tr-TR" sz="2800" b="1" dirty="0"/>
              <a:t>-First Architecture:</a:t>
            </a:r>
            <a:r>
              <a:rPr lang="tr-TR" sz="2800" dirty="0"/>
              <a:t> </a:t>
            </a:r>
            <a:r>
              <a:rPr lang="tr-TR" sz="2600" dirty="0" err="1"/>
              <a:t>Replace</a:t>
            </a:r>
            <a:r>
              <a:rPr lang="tr-TR" sz="2600" dirty="0"/>
              <a:t> </a:t>
            </a:r>
            <a:r>
              <a:rPr lang="tr-TR" sz="2600" dirty="0" err="1"/>
              <a:t>all</a:t>
            </a:r>
            <a:r>
              <a:rPr lang="tr-TR" sz="2600" dirty="0"/>
              <a:t> API </a:t>
            </a:r>
            <a:r>
              <a:rPr lang="tr-TR" sz="2600" dirty="0" err="1"/>
              <a:t>dependencies</a:t>
            </a:r>
            <a:r>
              <a:rPr lang="tr-TR" sz="2600" dirty="0"/>
              <a:t> (</a:t>
            </a:r>
            <a:r>
              <a:rPr lang="tr-TR" sz="2600" dirty="0" err="1"/>
              <a:t>MinerU</a:t>
            </a:r>
            <a:r>
              <a:rPr lang="tr-TR" sz="2600" dirty="0"/>
              <a:t> OCR Model)  </a:t>
            </a:r>
            <a:r>
              <a:rPr lang="tr-TR" sz="2600" dirty="0" err="1"/>
              <a:t>with</a:t>
            </a:r>
            <a:r>
              <a:rPr lang="tr-TR" sz="2600" dirty="0"/>
              <a:t> self-</a:t>
            </a:r>
            <a:r>
              <a:rPr lang="tr-TR" sz="2600" dirty="0" err="1"/>
              <a:t>hosted</a:t>
            </a:r>
            <a:r>
              <a:rPr lang="tr-TR" sz="2600" dirty="0"/>
              <a:t> </a:t>
            </a:r>
            <a:r>
              <a:rPr lang="tr-TR" sz="2600" dirty="0" err="1"/>
              <a:t>alternatives</a:t>
            </a:r>
            <a:r>
              <a:rPr lang="tr-TR" sz="2600" dirty="0"/>
              <a:t>. </a:t>
            </a:r>
            <a:r>
              <a:rPr lang="tr-TR" sz="2600" dirty="0" err="1"/>
              <a:t>Target</a:t>
            </a:r>
            <a:r>
              <a:rPr lang="tr-TR" sz="2600" dirty="0"/>
              <a:t>: </a:t>
            </a:r>
            <a:r>
              <a:rPr lang="tr-TR" sz="2600" dirty="0" err="1"/>
              <a:t>fully</a:t>
            </a:r>
            <a:r>
              <a:rPr lang="tr-TR" sz="2600" dirty="0"/>
              <a:t> </a:t>
            </a:r>
            <a:r>
              <a:rPr lang="tr-TR" sz="2600" dirty="0" err="1"/>
              <a:t>air-gapped</a:t>
            </a:r>
            <a:r>
              <a:rPr lang="tr-TR" sz="2600" dirty="0"/>
              <a:t> </a:t>
            </a:r>
            <a:r>
              <a:rPr lang="tr-TR" sz="2600" dirty="0" err="1"/>
              <a:t>deployment</a:t>
            </a:r>
            <a:endParaRPr lang="tr-TR" sz="2600" dirty="0"/>
          </a:p>
          <a:p>
            <a:endParaRPr lang="tr-TR" dirty="0"/>
          </a:p>
          <a:p>
            <a:r>
              <a:rPr lang="tr-TR" sz="2800" b="1" dirty="0"/>
              <a:t>Multi-</a:t>
            </a:r>
            <a:r>
              <a:rPr lang="tr-TR" sz="2800" b="1" dirty="0" err="1"/>
              <a:t>Document</a:t>
            </a:r>
            <a:r>
              <a:rPr lang="tr-TR" sz="2800" b="1" dirty="0"/>
              <a:t> </a:t>
            </a:r>
            <a:r>
              <a:rPr lang="tr-TR" sz="2800" b="1" dirty="0" err="1"/>
              <a:t>Support</a:t>
            </a:r>
            <a:r>
              <a:rPr lang="tr-TR" sz="2800" b="1" dirty="0"/>
              <a:t> &amp; </a:t>
            </a:r>
            <a:r>
              <a:rPr lang="tr-TR" sz="2800" b="1" dirty="0" err="1"/>
              <a:t>Scale-Up</a:t>
            </a:r>
            <a:r>
              <a:rPr lang="tr-TR" sz="2800" b="1" dirty="0"/>
              <a:t>:</a:t>
            </a:r>
            <a:r>
              <a:rPr lang="tr-TR" sz="2800" dirty="0"/>
              <a:t> </a:t>
            </a:r>
            <a:r>
              <a:rPr lang="tr-TR" sz="2600" dirty="0" err="1"/>
              <a:t>Current</a:t>
            </a:r>
            <a:r>
              <a:rPr lang="tr-TR" sz="2600" dirty="0"/>
              <a:t> </a:t>
            </a:r>
            <a:r>
              <a:rPr lang="tr-TR" sz="2600" dirty="0" err="1"/>
              <a:t>system</a:t>
            </a:r>
            <a:r>
              <a:rPr lang="tr-TR" sz="2600" dirty="0"/>
              <a:t> </a:t>
            </a:r>
            <a:r>
              <a:rPr lang="tr-TR" sz="2600" dirty="0" err="1"/>
              <a:t>operates</a:t>
            </a:r>
            <a:r>
              <a:rPr lang="tr-TR" sz="2600" dirty="0"/>
              <a:t> on a </a:t>
            </a:r>
            <a:r>
              <a:rPr lang="tr-TR" sz="2600" dirty="0" err="1"/>
              <a:t>single</a:t>
            </a:r>
            <a:r>
              <a:rPr lang="tr-TR" sz="2600" dirty="0"/>
              <a:t> PDF. </a:t>
            </a:r>
            <a:r>
              <a:rPr lang="tr-TR" sz="2600" dirty="0" err="1"/>
              <a:t>Next</a:t>
            </a:r>
            <a:r>
              <a:rPr lang="tr-TR" sz="2600" dirty="0"/>
              <a:t> </a:t>
            </a:r>
            <a:r>
              <a:rPr lang="tr-TR" sz="2600" dirty="0" err="1"/>
              <a:t>phase</a:t>
            </a:r>
            <a:r>
              <a:rPr lang="tr-TR" sz="2600" dirty="0"/>
              <a:t> </a:t>
            </a:r>
            <a:r>
              <a:rPr lang="tr-TR" sz="2600" dirty="0" err="1"/>
              <a:t>introduces</a:t>
            </a:r>
            <a:r>
              <a:rPr lang="tr-TR" sz="2600" dirty="0"/>
              <a:t> </a:t>
            </a:r>
            <a:r>
              <a:rPr lang="tr-TR" sz="2600" dirty="0" err="1"/>
              <a:t>multi-standard</a:t>
            </a:r>
            <a:r>
              <a:rPr lang="tr-TR" sz="2600" dirty="0"/>
              <a:t> </a:t>
            </a:r>
            <a:r>
              <a:rPr lang="tr-TR" sz="2600" dirty="0" err="1"/>
              <a:t>indexing</a:t>
            </a:r>
            <a:r>
              <a:rPr lang="tr-TR" sz="2600" dirty="0"/>
              <a:t>  </a:t>
            </a:r>
            <a:r>
              <a:rPr lang="tr-TR" sz="2600" dirty="0" err="1"/>
              <a:t>the</a:t>
            </a:r>
            <a:r>
              <a:rPr lang="tr-TR" sz="2600" dirty="0"/>
              <a:t> </a:t>
            </a:r>
            <a:r>
              <a:rPr lang="tr-TR" sz="2600" dirty="0" err="1"/>
              <a:t>system</a:t>
            </a:r>
            <a:r>
              <a:rPr lang="tr-TR" sz="2600" dirty="0"/>
              <a:t> </a:t>
            </a:r>
            <a:r>
              <a:rPr lang="tr-TR" sz="2600" dirty="0" err="1"/>
              <a:t>will</a:t>
            </a:r>
            <a:r>
              <a:rPr lang="tr-TR" sz="2600" dirty="0"/>
              <a:t> </a:t>
            </a:r>
            <a:r>
              <a:rPr lang="tr-TR" sz="2600" dirty="0" err="1"/>
              <a:t>automatically</a:t>
            </a:r>
            <a:r>
              <a:rPr lang="tr-TR" sz="2600" dirty="0"/>
              <a:t> </a:t>
            </a:r>
            <a:r>
              <a:rPr lang="tr-TR" sz="2600" dirty="0" err="1"/>
              <a:t>identify</a:t>
            </a:r>
            <a:r>
              <a:rPr lang="tr-TR" sz="2600" dirty="0"/>
              <a:t> </a:t>
            </a:r>
            <a:r>
              <a:rPr lang="tr-TR" sz="2600" dirty="0" err="1"/>
              <a:t>the</a:t>
            </a:r>
            <a:r>
              <a:rPr lang="tr-TR" sz="2600" dirty="0"/>
              <a:t> </a:t>
            </a:r>
            <a:r>
              <a:rPr lang="tr-TR" sz="2600" dirty="0" err="1"/>
              <a:t>relevant</a:t>
            </a:r>
            <a:r>
              <a:rPr lang="tr-TR" sz="2600" dirty="0"/>
              <a:t> </a:t>
            </a:r>
            <a:r>
              <a:rPr lang="tr-TR" sz="2600" dirty="0" err="1"/>
              <a:t>document</a:t>
            </a:r>
            <a:r>
              <a:rPr lang="tr-TR" sz="2600" dirty="0"/>
              <a:t> </a:t>
            </a:r>
            <a:r>
              <a:rPr lang="tr-TR" sz="2600" dirty="0" err="1"/>
              <a:t>per</a:t>
            </a:r>
            <a:r>
              <a:rPr lang="tr-TR" sz="2600" dirty="0"/>
              <a:t> </a:t>
            </a:r>
            <a:r>
              <a:rPr lang="tr-TR" sz="2600" dirty="0" err="1"/>
              <a:t>query</a:t>
            </a:r>
            <a:r>
              <a:rPr lang="tr-TR" sz="2600" dirty="0"/>
              <a:t>. </a:t>
            </a:r>
            <a:r>
              <a:rPr lang="tr-TR" sz="2600" dirty="0" err="1"/>
              <a:t>To</a:t>
            </a:r>
            <a:r>
              <a:rPr lang="tr-TR" sz="2600" dirty="0"/>
              <a:t> be </a:t>
            </a:r>
            <a:r>
              <a:rPr lang="tr-TR" sz="2600" dirty="0" err="1"/>
              <a:t>deployed</a:t>
            </a:r>
            <a:r>
              <a:rPr lang="tr-TR" sz="2600" dirty="0"/>
              <a:t> on </a:t>
            </a:r>
            <a:r>
              <a:rPr lang="tr-TR" sz="2600" b="1" dirty="0"/>
              <a:t>ILGE </a:t>
            </a:r>
            <a:r>
              <a:rPr lang="tr-TR" sz="2600" b="1" dirty="0" err="1"/>
              <a:t>AI's</a:t>
            </a:r>
            <a:r>
              <a:rPr lang="tr-TR" sz="2600" b="1" dirty="0"/>
              <a:t> </a:t>
            </a:r>
            <a:r>
              <a:rPr lang="tr-TR" sz="2600" b="1" dirty="0" err="1"/>
              <a:t>infrastructure</a:t>
            </a:r>
            <a:r>
              <a:rPr lang="tr-TR" sz="2600" dirty="0"/>
              <a:t> </a:t>
            </a:r>
            <a:r>
              <a:rPr lang="tr-TR" sz="2600" dirty="0" err="1"/>
              <a:t>and</a:t>
            </a:r>
            <a:r>
              <a:rPr lang="tr-TR" sz="2600" dirty="0"/>
              <a:t> </a:t>
            </a:r>
            <a:r>
              <a:rPr lang="tr-TR" sz="2600" dirty="0" err="1"/>
              <a:t>validated</a:t>
            </a:r>
            <a:r>
              <a:rPr lang="tr-TR" sz="2600" dirty="0"/>
              <a:t> in a </a:t>
            </a:r>
            <a:r>
              <a:rPr lang="tr-TR" sz="2600" dirty="0" err="1"/>
              <a:t>real</a:t>
            </a:r>
            <a:r>
              <a:rPr lang="tr-TR" sz="2600" dirty="0"/>
              <a:t> </a:t>
            </a:r>
            <a:r>
              <a:rPr lang="tr-TR" sz="2600" dirty="0" err="1"/>
              <a:t>audit</a:t>
            </a:r>
            <a:r>
              <a:rPr lang="tr-TR" sz="2600" dirty="0"/>
              <a:t> </a:t>
            </a:r>
            <a:r>
              <a:rPr lang="tr-TR" sz="2600" dirty="0" err="1"/>
              <a:t>environment</a:t>
            </a:r>
            <a:endParaRPr lang="tr-TR" sz="2600" dirty="0"/>
          </a:p>
          <a:p>
            <a:endParaRPr lang="tr-TR" sz="2700" dirty="0"/>
          </a:p>
          <a:p>
            <a:r>
              <a:rPr lang="tr-TR" sz="2800" b="1" dirty="0"/>
              <a:t>Evaluation </a:t>
            </a:r>
            <a:r>
              <a:rPr lang="tr-TR" sz="2800" b="1" dirty="0" err="1"/>
              <a:t>Targets</a:t>
            </a:r>
            <a:r>
              <a:rPr lang="tr-TR" sz="2800" b="1" dirty="0"/>
              <a:t>:</a:t>
            </a:r>
            <a:r>
              <a:rPr lang="tr-TR" sz="2800" dirty="0"/>
              <a:t> </a:t>
            </a:r>
            <a:r>
              <a:rPr lang="tr-TR" sz="2600" dirty="0" err="1"/>
              <a:t>Phase</a:t>
            </a:r>
            <a:r>
              <a:rPr lang="tr-TR" sz="2600" dirty="0"/>
              <a:t> 2 </a:t>
            </a:r>
            <a:r>
              <a:rPr lang="tr-TR" sz="2600" dirty="0" err="1"/>
              <a:t>targets</a:t>
            </a:r>
            <a:r>
              <a:rPr lang="tr-TR" sz="2600" dirty="0"/>
              <a:t> </a:t>
            </a:r>
            <a:r>
              <a:rPr lang="tr-TR" sz="2600" dirty="0" err="1"/>
              <a:t>were</a:t>
            </a:r>
            <a:r>
              <a:rPr lang="tr-TR" sz="2600" dirty="0"/>
              <a:t> Hit Rate@3 ≥ 0.85 </a:t>
            </a:r>
            <a:r>
              <a:rPr lang="tr-TR" sz="2600" dirty="0" err="1"/>
              <a:t>and</a:t>
            </a:r>
            <a:r>
              <a:rPr lang="tr-TR" sz="2600" dirty="0"/>
              <a:t> MRR ≥ 0.75. Final </a:t>
            </a:r>
            <a:r>
              <a:rPr lang="tr-TR" sz="2600" dirty="0" err="1"/>
              <a:t>phase</a:t>
            </a:r>
            <a:r>
              <a:rPr lang="tr-TR" sz="2600" dirty="0"/>
              <a:t> </a:t>
            </a:r>
            <a:r>
              <a:rPr lang="tr-TR" sz="2600" dirty="0" err="1"/>
              <a:t>will</a:t>
            </a:r>
            <a:r>
              <a:rPr lang="tr-TR" sz="2600" dirty="0"/>
              <a:t> define </a:t>
            </a:r>
            <a:r>
              <a:rPr lang="tr-TR" sz="2600" dirty="0" err="1"/>
              <a:t>extended</a:t>
            </a:r>
            <a:r>
              <a:rPr lang="tr-TR" sz="2600" dirty="0"/>
              <a:t> </a:t>
            </a:r>
            <a:r>
              <a:rPr lang="tr-TR" sz="2600" dirty="0" err="1"/>
              <a:t>benchmarks</a:t>
            </a:r>
            <a:r>
              <a:rPr lang="tr-TR" sz="2600" dirty="0"/>
              <a:t> </a:t>
            </a:r>
            <a:r>
              <a:rPr lang="tr-TR" sz="2600" dirty="0" err="1"/>
              <a:t>covering</a:t>
            </a:r>
            <a:r>
              <a:rPr lang="tr-TR" sz="2600" dirty="0"/>
              <a:t> </a:t>
            </a:r>
            <a:r>
              <a:rPr lang="tr-TR" sz="2600" dirty="0" err="1"/>
              <a:t>multi-document</a:t>
            </a:r>
            <a:r>
              <a:rPr lang="tr-TR" sz="2600" dirty="0"/>
              <a:t> </a:t>
            </a:r>
            <a:r>
              <a:rPr lang="tr-TR" sz="2600" dirty="0" err="1"/>
              <a:t>retrieval</a:t>
            </a:r>
            <a:r>
              <a:rPr lang="tr-TR" sz="2600" dirty="0"/>
              <a:t> </a:t>
            </a:r>
            <a:r>
              <a:rPr lang="tr-TR" sz="2600" dirty="0" err="1"/>
              <a:t>and</a:t>
            </a:r>
            <a:r>
              <a:rPr lang="tr-TR" sz="2600" dirty="0"/>
              <a:t> </a:t>
            </a:r>
            <a:r>
              <a:rPr lang="tr-TR" sz="2600" dirty="0" err="1"/>
              <a:t>end-to-end</a:t>
            </a:r>
            <a:r>
              <a:rPr lang="tr-TR" sz="2600" dirty="0"/>
              <a:t> </a:t>
            </a:r>
            <a:r>
              <a:rPr lang="tr-TR" sz="2600" dirty="0" err="1"/>
              <a:t>verdict</a:t>
            </a:r>
            <a:r>
              <a:rPr lang="tr-TR" sz="2600" dirty="0"/>
              <a:t> </a:t>
            </a:r>
            <a:r>
              <a:rPr lang="tr-TR" sz="2600" dirty="0" err="1"/>
              <a:t>accuracy</a:t>
            </a:r>
            <a:endParaRPr lang="tr-TR" sz="2600" dirty="0"/>
          </a:p>
          <a:p>
            <a:pPr algn="just"/>
            <a:endParaRPr lang="tr-TR" sz="1900" dirty="0"/>
          </a:p>
        </p:txBody>
      </p:sp>
    </p:spTree>
    <p:extLst>
      <p:ext uri="{BB962C8B-B14F-4D97-AF65-F5344CB8AC3E}">
        <p14:creationId xmlns:p14="http://schemas.microsoft.com/office/powerpoint/2010/main" val="13224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14895" y="1446414"/>
            <a:ext cx="10756669" cy="4754880"/>
          </a:xfrm>
        </p:spPr>
        <p:txBody>
          <a:bodyPr>
            <a:normAutofit/>
          </a:bodyPr>
          <a:lstStyle/>
          <a:p>
            <a:pPr marL="514350" indent="-514350">
              <a:buFont typeface="Arial"/>
              <a:buAutoNum type="arabicPeriod"/>
            </a:pPr>
            <a:r>
              <a:rPr lang="tr-TR" sz="2400" dirty="0" err="1"/>
              <a:t>Reimers</a:t>
            </a:r>
            <a:r>
              <a:rPr lang="tr-TR" sz="2400" dirty="0"/>
              <a:t>, N., &amp; </a:t>
            </a:r>
            <a:r>
              <a:rPr lang="tr-TR" sz="2400" dirty="0" err="1"/>
              <a:t>Gurevych</a:t>
            </a:r>
            <a:r>
              <a:rPr lang="tr-TR" sz="2400" dirty="0"/>
              <a:t>, I. (2019). "</a:t>
            </a:r>
            <a:r>
              <a:rPr lang="tr-TR" sz="2400" dirty="0" err="1"/>
              <a:t>Sentence</a:t>
            </a:r>
            <a:r>
              <a:rPr lang="tr-TR" sz="2400" dirty="0"/>
              <a:t>-BERT: </a:t>
            </a:r>
            <a:r>
              <a:rPr lang="tr-TR" sz="2400" dirty="0" err="1"/>
              <a:t>Sentence</a:t>
            </a:r>
            <a:r>
              <a:rPr lang="tr-TR" sz="2400" dirty="0"/>
              <a:t> </a:t>
            </a:r>
            <a:r>
              <a:rPr lang="tr-TR" sz="2400" dirty="0" err="1"/>
              <a:t>Embeddings</a:t>
            </a:r>
            <a:r>
              <a:rPr lang="tr-TR" sz="2400" dirty="0"/>
              <a:t> </a:t>
            </a:r>
            <a:r>
              <a:rPr lang="tr-TR" sz="2400" dirty="0" err="1"/>
              <a:t>using</a:t>
            </a:r>
            <a:r>
              <a:rPr lang="tr-TR" sz="2400" dirty="0"/>
              <a:t> </a:t>
            </a:r>
            <a:r>
              <a:rPr lang="tr-TR" sz="2400" dirty="0" err="1"/>
              <a:t>Siamese</a:t>
            </a:r>
            <a:r>
              <a:rPr lang="tr-TR" sz="2400" dirty="0"/>
              <a:t> BERT-Networks".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dirty="0" err="1"/>
              <a:t>Nogueira</a:t>
            </a:r>
            <a:r>
              <a:rPr lang="tr-TR" sz="2400" dirty="0"/>
              <a:t>, R., &amp; </a:t>
            </a:r>
            <a:r>
              <a:rPr lang="tr-TR" sz="2400" dirty="0" err="1"/>
              <a:t>Cho</a:t>
            </a:r>
            <a:r>
              <a:rPr lang="tr-TR" sz="2400" dirty="0"/>
              <a:t>, K. (2019). "</a:t>
            </a:r>
            <a:r>
              <a:rPr lang="tr-TR" sz="2400" dirty="0" err="1"/>
              <a:t>Passage</a:t>
            </a:r>
            <a:r>
              <a:rPr lang="tr-TR" sz="2400" dirty="0"/>
              <a:t> Re-</a:t>
            </a:r>
            <a:r>
              <a:rPr lang="tr-TR" sz="2400" dirty="0" err="1"/>
              <a:t>ranking</a:t>
            </a:r>
            <a:r>
              <a:rPr lang="tr-TR" sz="2400" dirty="0"/>
              <a:t> </a:t>
            </a:r>
            <a:r>
              <a:rPr lang="tr-TR" sz="2400" dirty="0" err="1"/>
              <a:t>with</a:t>
            </a:r>
            <a:r>
              <a:rPr lang="tr-TR" sz="2400" dirty="0"/>
              <a:t> BERT".</a:t>
            </a:r>
          </a:p>
          <a:p>
            <a:pPr marL="514350" indent="-514350">
              <a:buFont typeface="Arial"/>
              <a:buAutoNum type="arabicPeriod"/>
            </a:pPr>
            <a:r>
              <a:rPr lang="en-US" sz="2400" dirty="0"/>
              <a:t>Wang, Y., et al. (2022). "Self-Instruct: Aligning Language Models with Self-Generated Instructions".</a:t>
            </a:r>
            <a:endParaRPr lang="tr-TR" sz="2400" dirty="0"/>
          </a:p>
          <a:p>
            <a:pPr marL="514350" indent="-514350">
              <a:buAutoNum type="arabicPeriod"/>
            </a:pPr>
            <a:r>
              <a:rPr lang="tr-TR" sz="2400" dirty="0" err="1"/>
              <a:t>Gao</a:t>
            </a:r>
            <a:r>
              <a:rPr lang="tr-TR" sz="2400" dirty="0"/>
              <a:t>, L., et al. (2022). "</a:t>
            </a:r>
            <a:r>
              <a:rPr lang="tr-TR" sz="2400" dirty="0" err="1"/>
              <a:t>Precise</a:t>
            </a:r>
            <a:r>
              <a:rPr lang="tr-TR" sz="2400" dirty="0"/>
              <a:t> Zero-</a:t>
            </a:r>
            <a:r>
              <a:rPr lang="tr-TR" sz="2400" dirty="0" err="1"/>
              <a:t>Shot</a:t>
            </a:r>
            <a:r>
              <a:rPr lang="tr-TR" sz="2400" dirty="0"/>
              <a:t> Dense </a:t>
            </a:r>
            <a:r>
              <a:rPr lang="tr-TR" sz="2400" dirty="0" err="1"/>
              <a:t>Retrieval</a:t>
            </a:r>
            <a:r>
              <a:rPr lang="tr-TR" sz="2400" dirty="0"/>
              <a:t> </a:t>
            </a:r>
            <a:r>
              <a:rPr lang="tr-TR" sz="2400" dirty="0" err="1"/>
              <a:t>without</a:t>
            </a:r>
            <a:r>
              <a:rPr lang="tr-TR" sz="2400" dirty="0"/>
              <a:t> </a:t>
            </a:r>
            <a:r>
              <a:rPr lang="tr-TR" sz="2400" dirty="0" err="1"/>
              <a:t>Relevance</a:t>
            </a:r>
            <a:r>
              <a:rPr lang="tr-TR" sz="2400" dirty="0"/>
              <a:t> </a:t>
            </a:r>
            <a:r>
              <a:rPr lang="tr-TR" sz="2400" dirty="0" err="1"/>
              <a:t>Labels</a:t>
            </a:r>
            <a:r>
              <a:rPr lang="tr-TR" sz="2400" dirty="0"/>
              <a:t>". ACL 2023.</a:t>
            </a:r>
          </a:p>
          <a:p>
            <a:pPr marL="514350" indent="-514350">
              <a:buAutoNum type="arabicPeriod"/>
            </a:pPr>
            <a:r>
              <a:rPr lang="tr-TR" sz="2400" dirty="0"/>
              <a:t>Wang, Z., et al. (2024). "</a:t>
            </a:r>
            <a:r>
              <a:rPr lang="tr-TR" sz="2400" dirty="0" err="1"/>
              <a:t>MinerU</a:t>
            </a:r>
            <a:r>
              <a:rPr lang="tr-TR" sz="2400" dirty="0"/>
              <a:t>: An Open-Source Solution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Precise</a:t>
            </a:r>
            <a:r>
              <a:rPr lang="tr-TR" sz="2400" dirty="0"/>
              <a:t> </a:t>
            </a:r>
            <a:r>
              <a:rPr lang="tr-TR" sz="2400" dirty="0" err="1"/>
              <a:t>Document</a:t>
            </a:r>
            <a:r>
              <a:rPr lang="tr-TR" sz="2400" dirty="0"/>
              <a:t> Content </a:t>
            </a:r>
            <a:r>
              <a:rPr lang="tr-TR" sz="2400" dirty="0" err="1"/>
              <a:t>Extraction</a:t>
            </a:r>
            <a:r>
              <a:rPr lang="tr-TR" sz="2400" dirty="0"/>
              <a:t>". 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29.04.2026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584023-2426-4597-A7B7-5BEBE999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1304</TotalTime>
  <Words>707</Words>
  <Application>Microsoft Office PowerPoint</Application>
  <PresentationFormat>Geniş ekran</PresentationFormat>
  <Paragraphs>108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Calibri</vt:lpstr>
      <vt:lpstr>Google Sans Text</vt:lpstr>
      <vt:lpstr>GTU-ŞABLON-1</vt:lpstr>
      <vt:lpstr>Multimodal RAG for Integrating Tabular, Text and Image Data</vt:lpstr>
      <vt:lpstr>Contents</vt:lpstr>
      <vt:lpstr>Project Definition &amp; Architecture: Recap</vt:lpstr>
      <vt:lpstr>Bottlenecks &amp; Solutions - Semantic Gap in Dense Retrieval</vt:lpstr>
      <vt:lpstr>Bottlenecks &amp; Solutions - The Linearization Problem</vt:lpstr>
      <vt:lpstr>Automated Data Ingestion</vt:lpstr>
      <vt:lpstr>Prove Evidence</vt:lpstr>
      <vt:lpstr>To Do &amp; RoadMap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Taha Alparslan Atabey</cp:lastModifiedBy>
  <cp:revision>425</cp:revision>
  <dcterms:created xsi:type="dcterms:W3CDTF">2015-02-28T16:59:24Z</dcterms:created>
  <dcterms:modified xsi:type="dcterms:W3CDTF">2026-04-28T19:55:01Z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