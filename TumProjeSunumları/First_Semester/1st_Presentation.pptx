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1" r:id="rId7"/>
    <p:sldId id="262" r:id="rId8"/>
    <p:sldId id="263" r:id="rId9"/>
    <p:sldId id="271" r:id="rId10"/>
    <p:sldId id="264" r:id="rId11"/>
    <p:sldId id="25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6"/>
  </p:normalViewPr>
  <p:slideViewPr>
    <p:cSldViewPr snapToGrid="0" snapToObjects="1">
      <p:cViewPr>
        <p:scale>
          <a:sx n="58" d="100"/>
          <a:sy n="58" d="100"/>
        </p:scale>
        <p:origin x="1157" y="4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15.10.2025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langchain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2126" y="1947799"/>
            <a:ext cx="8410074" cy="1679575"/>
          </a:xfrm>
        </p:spPr>
        <p:txBody>
          <a:bodyPr/>
          <a:lstStyle/>
          <a:p>
            <a:r>
              <a:rPr lang="en-US" dirty="0"/>
              <a:t>Multimodal RAG for Integrating Tabular, Text and Image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en-US" dirty="0"/>
              <a:t>First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Taha Alparslan Atabey</a:t>
            </a:r>
          </a:p>
          <a:p>
            <a:endParaRPr lang="tr-TR" dirty="0"/>
          </a:p>
          <a:p>
            <a:r>
              <a:rPr lang="en-US" dirty="0"/>
              <a:t>Advisor: Asst. Prof. </a:t>
            </a:r>
            <a:r>
              <a:rPr lang="tr-TR" dirty="0"/>
              <a:t>Dr. Salih Sarp</a:t>
            </a:r>
          </a:p>
          <a:p>
            <a:r>
              <a:rPr lang="en-US" dirty="0"/>
              <a:t>September 2025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Project Definition</a:t>
            </a:r>
          </a:p>
          <a:p>
            <a:r>
              <a:rPr lang="tr-TR" dirty="0"/>
              <a:t>Project Design</a:t>
            </a:r>
          </a:p>
          <a:p>
            <a:r>
              <a:rPr lang="tr-TR" dirty="0"/>
              <a:t>Project </a:t>
            </a:r>
            <a:r>
              <a:rPr lang="tr-TR" dirty="0" err="1"/>
              <a:t>Requirements</a:t>
            </a:r>
            <a:r>
              <a:rPr lang="tr-TR" dirty="0"/>
              <a:t> </a:t>
            </a:r>
          </a:p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 (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at </a:t>
            </a:r>
            <a:r>
              <a:rPr lang="tr-TR" dirty="0" err="1"/>
              <a:t>least</a:t>
            </a:r>
            <a:r>
              <a:rPr lang="tr-TR" dirty="0"/>
              <a:t> 3) </a:t>
            </a:r>
          </a:p>
          <a:p>
            <a:r>
              <a:rPr lang="tr-TR" dirty="0"/>
              <a:t>Project </a:t>
            </a:r>
            <a:r>
              <a:rPr lang="tr-TR" dirty="0" err="1"/>
              <a:t>Timeline</a:t>
            </a:r>
            <a:r>
              <a:rPr lang="tr-TR" dirty="0"/>
              <a:t> (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monthly</a:t>
            </a:r>
            <a:r>
              <a:rPr lang="tr-TR" dirty="0"/>
              <a:t> </a:t>
            </a:r>
            <a:r>
              <a:rPr lang="tr-TR" dirty="0" err="1"/>
              <a:t>granularity</a:t>
            </a:r>
            <a:r>
              <a:rPr lang="tr-TR" dirty="0"/>
              <a:t>) </a:t>
            </a:r>
          </a:p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Definition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pic>
        <p:nvPicPr>
          <p:cNvPr id="13" name="Resim 12" descr="metin, yazı tipi, ekran görüntüsü, diyagram içeren bir resim">
            <a:extLst>
              <a:ext uri="{FF2B5EF4-FFF2-40B4-BE49-F238E27FC236}">
                <a16:creationId xmlns:a16="http://schemas.microsoft.com/office/drawing/2014/main" id="{008721AD-C008-06FB-E177-AB9CA6AC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9700"/>
            <a:ext cx="5519843" cy="4371340"/>
          </a:xfrm>
          <a:prstGeom prst="rect">
            <a:avLst/>
          </a:prstGeom>
        </p:spPr>
      </p:pic>
      <p:sp>
        <p:nvSpPr>
          <p:cNvPr id="8" name="İçerik Yer Tutucusu 2"/>
          <p:cNvSpPr txBox="1">
            <a:spLocks/>
          </p:cNvSpPr>
          <p:nvPr/>
        </p:nvSpPr>
        <p:spPr>
          <a:xfrm>
            <a:off x="4965290" y="1409700"/>
            <a:ext cx="6958425" cy="4991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b="1" dirty="0"/>
              <a:t>Problem: </a:t>
            </a:r>
            <a:r>
              <a:rPr lang="tr-TR" dirty="0" err="1"/>
              <a:t>Currently</a:t>
            </a:r>
            <a:r>
              <a:rPr lang="tr-TR" dirty="0"/>
              <a:t>, </a:t>
            </a:r>
            <a:r>
              <a:rPr lang="tr-TR" dirty="0" err="1"/>
              <a:t>vital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is </a:t>
            </a:r>
            <a:r>
              <a:rPr lang="tr-TR" dirty="0" err="1"/>
              <a:t>fragmented</a:t>
            </a:r>
            <a:r>
              <a:rPr lang="tr-TR" dirty="0"/>
              <a:t> </a:t>
            </a:r>
            <a:r>
              <a:rPr lang="tr-TR" dirty="0" err="1"/>
              <a:t>across</a:t>
            </a:r>
            <a:r>
              <a:rPr lang="tr-TR" dirty="0"/>
              <a:t> </a:t>
            </a:r>
            <a:r>
              <a:rPr lang="tr-TR" dirty="0" err="1"/>
              <a:t>disconnected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diverse</a:t>
            </a:r>
            <a:r>
              <a:rPr lang="tr-TR" dirty="0"/>
              <a:t> </a:t>
            </a:r>
            <a:r>
              <a:rPr lang="tr-TR" dirty="0" err="1"/>
              <a:t>formats</a:t>
            </a:r>
            <a:r>
              <a:rPr lang="tr-TR" dirty="0"/>
              <a:t>,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reports</a:t>
            </a:r>
            <a:r>
              <a:rPr lang="tr-TR" dirty="0"/>
              <a:t> (</a:t>
            </a:r>
            <a:r>
              <a:rPr lang="tr-TR" dirty="0" err="1"/>
              <a:t>text</a:t>
            </a:r>
            <a:r>
              <a:rPr lang="tr-TR" dirty="0"/>
              <a:t>), </a:t>
            </a:r>
            <a:r>
              <a:rPr lang="tr-TR" dirty="0" err="1"/>
              <a:t>analytical</a:t>
            </a:r>
            <a:r>
              <a:rPr lang="tr-TR" dirty="0"/>
              <a:t> </a:t>
            </a:r>
            <a:r>
              <a:rPr lang="tr-TR" dirty="0" err="1"/>
              <a:t>tables</a:t>
            </a:r>
            <a:r>
              <a:rPr lang="tr-TR" dirty="0"/>
              <a:t> (tabular),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graphics</a:t>
            </a:r>
            <a:r>
              <a:rPr lang="tr-TR" dirty="0"/>
              <a:t>/</a:t>
            </a:r>
            <a:r>
              <a:rPr lang="tr-TR" dirty="0" err="1"/>
              <a:t>images</a:t>
            </a:r>
            <a:r>
              <a:rPr lang="tr-TR" dirty="0"/>
              <a:t> (</a:t>
            </a:r>
            <a:r>
              <a:rPr lang="tr-TR" dirty="0" err="1"/>
              <a:t>visual</a:t>
            </a:r>
            <a:r>
              <a:rPr lang="tr-TR" dirty="0"/>
              <a:t>).</a:t>
            </a:r>
          </a:p>
          <a:p>
            <a:pPr marL="0" indent="0" algn="just">
              <a:buNone/>
            </a:pPr>
            <a:endParaRPr lang="tr-TR" dirty="0"/>
          </a:p>
          <a:p>
            <a:pPr algn="just"/>
            <a:r>
              <a:rPr lang="tr-TR" b="1" dirty="0" err="1"/>
              <a:t>Objective</a:t>
            </a:r>
            <a:r>
              <a:rPr lang="tr-TR" b="1" dirty="0"/>
              <a:t>: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aims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develop</a:t>
            </a:r>
            <a:r>
              <a:rPr lang="tr-TR" dirty="0"/>
              <a:t> an </a:t>
            </a:r>
            <a:r>
              <a:rPr lang="tr-TR" dirty="0" err="1"/>
              <a:t>intelligent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capable</a:t>
            </a:r>
            <a:r>
              <a:rPr lang="tr-TR" dirty="0"/>
              <a:t> of </a:t>
            </a:r>
            <a:r>
              <a:rPr lang="tr-TR" dirty="0" err="1"/>
              <a:t>generating</a:t>
            </a:r>
            <a:r>
              <a:rPr lang="tr-TR" dirty="0"/>
              <a:t> </a:t>
            </a:r>
            <a:r>
              <a:rPr lang="tr-TR" dirty="0" err="1"/>
              <a:t>holistic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meaningul</a:t>
            </a:r>
            <a:r>
              <a:rPr lang="tr-TR" dirty="0"/>
              <a:t> </a:t>
            </a:r>
            <a:r>
              <a:rPr lang="tr-TR" dirty="0" err="1"/>
              <a:t>answers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complex</a:t>
            </a:r>
            <a:r>
              <a:rPr lang="tr-TR" dirty="0"/>
              <a:t>, </a:t>
            </a:r>
            <a:r>
              <a:rPr lang="tr-TR" dirty="0" err="1"/>
              <a:t>natural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queries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integrating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fragmented</a:t>
            </a:r>
            <a:r>
              <a:rPr lang="tr-TR" dirty="0"/>
              <a:t>, </a:t>
            </a:r>
            <a:r>
              <a:rPr lang="tr-TR" dirty="0" err="1"/>
              <a:t>multi</a:t>
            </a:r>
            <a:r>
              <a:rPr lang="tr-TR" dirty="0"/>
              <a:t>-format data.</a:t>
            </a:r>
          </a:p>
        </p:txBody>
      </p:sp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Design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  <p:pic>
        <p:nvPicPr>
          <p:cNvPr id="13" name="Resim 12" descr="metin, ekran görüntüsü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FCD336-E11E-4BA4-E4DD-943D1377F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040"/>
            <a:ext cx="12192000" cy="469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Requirements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/>
              <a:t>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800" b="1" dirty="0"/>
              <a:t>Programming Language:</a:t>
            </a:r>
            <a:r>
              <a:rPr lang="tr-TR" sz="2800" dirty="0"/>
              <a:t>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800" b="1" dirty="0" err="1"/>
              <a:t>Core</a:t>
            </a:r>
            <a:r>
              <a:rPr lang="tr-TR" sz="2800" b="1" dirty="0"/>
              <a:t> Libraries &amp; </a:t>
            </a:r>
            <a:r>
              <a:rPr lang="tr-TR" sz="2800" b="1" dirty="0" err="1"/>
              <a:t>Frameworks</a:t>
            </a:r>
            <a:r>
              <a:rPr lang="tr-TR" sz="2800" b="1" dirty="0"/>
              <a:t>:</a:t>
            </a:r>
            <a:endParaRPr lang="tr-T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 err="1"/>
              <a:t>For</a:t>
            </a:r>
            <a:r>
              <a:rPr lang="tr-TR" b="1" dirty="0"/>
              <a:t> Machine Learning:</a:t>
            </a:r>
            <a:r>
              <a:rPr lang="tr-TR" dirty="0"/>
              <a:t> </a:t>
            </a:r>
            <a:r>
              <a:rPr lang="tr-TR" dirty="0" err="1"/>
              <a:t>PyTorch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TensorFlow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 err="1"/>
              <a:t>For</a:t>
            </a:r>
            <a:r>
              <a:rPr lang="tr-TR" b="1" dirty="0"/>
              <a:t> RAG &amp; </a:t>
            </a:r>
            <a:r>
              <a:rPr lang="tr-TR" b="1" dirty="0" err="1"/>
              <a:t>LLMs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err="1"/>
              <a:t>Hugging</a:t>
            </a:r>
            <a:r>
              <a:rPr lang="tr-TR" dirty="0"/>
              <a:t> </a:t>
            </a:r>
            <a:r>
              <a:rPr lang="tr-TR" dirty="0" err="1"/>
              <a:t>Face</a:t>
            </a:r>
            <a:r>
              <a:rPr lang="tr-TR" dirty="0"/>
              <a:t> (</a:t>
            </a:r>
            <a:r>
              <a:rPr lang="tr-TR" dirty="0" err="1"/>
              <a:t>Transformers</a:t>
            </a:r>
            <a:r>
              <a:rPr lang="tr-TR" dirty="0"/>
              <a:t>, </a:t>
            </a:r>
            <a:r>
              <a:rPr lang="tr-TR" dirty="0" err="1"/>
              <a:t>Datasets</a:t>
            </a:r>
            <a:r>
              <a:rPr lang="tr-TR" dirty="0"/>
              <a:t>), </a:t>
            </a:r>
            <a:r>
              <a:rPr lang="tr-TR" dirty="0" err="1"/>
              <a:t>LangChain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LlamaIndex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 err="1"/>
              <a:t>For</a:t>
            </a:r>
            <a:r>
              <a:rPr lang="tr-TR" b="1" dirty="0"/>
              <a:t> Data </a:t>
            </a:r>
            <a:r>
              <a:rPr lang="tr-TR" b="1" dirty="0" err="1"/>
              <a:t>Processing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err="1"/>
              <a:t>Pandas</a:t>
            </a:r>
            <a:r>
              <a:rPr lang="tr-TR" dirty="0"/>
              <a:t> (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tables</a:t>
            </a:r>
            <a:r>
              <a:rPr lang="tr-TR" dirty="0"/>
              <a:t>), </a:t>
            </a:r>
            <a:r>
              <a:rPr lang="tr-TR" dirty="0" err="1"/>
              <a:t>PyMuPDF</a:t>
            </a:r>
            <a:r>
              <a:rPr lang="tr-TR" dirty="0"/>
              <a:t>/</a:t>
            </a:r>
            <a:r>
              <a:rPr lang="tr-TR" dirty="0" err="1"/>
              <a:t>Camelot</a:t>
            </a:r>
            <a:r>
              <a:rPr lang="tr-TR" dirty="0"/>
              <a:t> (</a:t>
            </a:r>
            <a:r>
              <a:rPr lang="tr-TR" dirty="0" err="1"/>
              <a:t>for</a:t>
            </a:r>
            <a:r>
              <a:rPr lang="tr-TR" dirty="0"/>
              <a:t> PDF </a:t>
            </a:r>
            <a:r>
              <a:rPr lang="tr-TR" dirty="0" err="1"/>
              <a:t>parsing</a:t>
            </a:r>
            <a:r>
              <a:rPr lang="tr-TR" dirty="0"/>
              <a:t>), </a:t>
            </a:r>
            <a:r>
              <a:rPr lang="tr-TR" dirty="0" err="1"/>
              <a:t>Pillow</a:t>
            </a:r>
            <a:r>
              <a:rPr lang="tr-TR" dirty="0"/>
              <a:t> (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images</a:t>
            </a:r>
            <a:r>
              <a:rPr lang="tr-T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 err="1"/>
              <a:t>Vector</a:t>
            </a:r>
            <a:r>
              <a:rPr lang="tr-TR" b="1" dirty="0"/>
              <a:t> Database:</a:t>
            </a:r>
            <a:r>
              <a:rPr lang="tr-TR" dirty="0"/>
              <a:t> </a:t>
            </a:r>
            <a:r>
              <a:rPr lang="tr-TR" dirty="0" err="1"/>
              <a:t>ChromaDB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FAISS + 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b="1" dirty="0" err="1"/>
              <a:t>For</a:t>
            </a:r>
            <a:r>
              <a:rPr lang="tr-TR" b="1" dirty="0"/>
              <a:t> OCR:</a:t>
            </a:r>
            <a:r>
              <a:rPr lang="tr-TR" dirty="0"/>
              <a:t> </a:t>
            </a:r>
            <a:r>
              <a:rPr lang="tr-TR" dirty="0" err="1"/>
              <a:t>Tesseract</a:t>
            </a:r>
            <a:r>
              <a:rPr lang="tr-TR" dirty="0"/>
              <a:t> &amp; </a:t>
            </a:r>
            <a:r>
              <a:rPr lang="tr-TR" dirty="0" err="1"/>
              <a:t>pytesseract</a:t>
            </a:r>
            <a:r>
              <a:rPr lang="tr-TR" dirty="0"/>
              <a:t> (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scanned</a:t>
            </a:r>
            <a:r>
              <a:rPr lang="tr-TR" dirty="0"/>
              <a:t> </a:t>
            </a:r>
            <a:r>
              <a:rPr lang="tr-TR" dirty="0" err="1"/>
              <a:t>PDFs</a:t>
            </a:r>
            <a:r>
              <a:rPr lang="tr-TR" dirty="0"/>
              <a:t>)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endParaRPr lang="tr-TR" b="1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D69F-4027-FE47-A082-AAD114D8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F34B464-F88F-698F-99C5-64A4A311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Requirements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22A4A6-19CC-ED7F-BC4E-F8A5CEE9C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69" y="1280161"/>
            <a:ext cx="11637547" cy="52984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/>
              <a:t>Hardware</a:t>
            </a:r>
          </a:p>
          <a:p>
            <a:r>
              <a:rPr lang="en-US" sz="3000" b="1" dirty="0"/>
              <a:t>Development Machine:</a:t>
            </a:r>
            <a:r>
              <a:rPr lang="en-US" sz="3000" dirty="0"/>
              <a:t> A modern PC or laptop.</a:t>
            </a:r>
          </a:p>
          <a:p>
            <a:r>
              <a:rPr lang="en-US" sz="3000" b="1" dirty="0"/>
              <a:t>GPU (Graphics Processing Unit):</a:t>
            </a:r>
            <a:r>
              <a:rPr lang="en-US" sz="3000" dirty="0"/>
              <a:t> A CUDA-enabled NVIDIA GPU with at least 8-12 GB of VRAM (e.g., RTX 3060 or higher) is highly recommended for running embedding models and experimenting with LLMs (especially local models).</a:t>
            </a:r>
            <a:endParaRPr lang="tr-TR" sz="3000" b="1" dirty="0"/>
          </a:p>
          <a:p>
            <a:pPr marL="0" indent="0">
              <a:buNone/>
            </a:pPr>
            <a:r>
              <a:rPr lang="en-US" sz="3500" b="1" dirty="0"/>
              <a:t>Other Resources</a:t>
            </a:r>
          </a:p>
          <a:p>
            <a:r>
              <a:rPr lang="en-US" sz="3000" b="1" dirty="0"/>
              <a:t>Dataset:</a:t>
            </a:r>
            <a:r>
              <a:rPr lang="en-US" sz="3000" dirty="0"/>
              <a:t> A dataset suitable for the project's objectives, containing documents (such as PDFs) that include text, images, and tables.</a:t>
            </a:r>
          </a:p>
          <a:p>
            <a:r>
              <a:rPr lang="en-US" sz="3000" b="1" dirty="0"/>
              <a:t>API Keys (Optional):</a:t>
            </a:r>
            <a:r>
              <a:rPr lang="en-US" sz="3000" dirty="0"/>
              <a:t> If benchmark results show that no available open-source model meets the required performance for the project's objectives, API keys may be required to utilize proprietary models such as GPT-4.</a:t>
            </a:r>
          </a:p>
          <a:p>
            <a:pPr marL="0" indent="0">
              <a:buNone/>
            </a:pPr>
            <a:endParaRPr lang="tr-TR" b="1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3F2D5A8-ABC8-FD54-150B-0867E22E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45B962F0-92EC-0530-27BD-61179A34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242FE6-39F1-92A8-7A75-E1B38966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3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86169" y="1409699"/>
            <a:ext cx="11637547" cy="51688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Criterion 1 (Quantitative - Answer Relevance):</a:t>
            </a:r>
            <a:r>
              <a:rPr lang="en-US" dirty="0"/>
              <a:t>For a pre-defined test set of 30 questions with known answers, the system's generated responses must achieve a relevance and correctness score of ≥ 80% (at least 24 out of 30), as evaluated by a human reviewer.</a:t>
            </a:r>
            <a:endParaRPr lang="tr-TR" dirty="0"/>
          </a:p>
          <a:p>
            <a:r>
              <a:rPr lang="en-US" b="1" dirty="0"/>
              <a:t>Criterion 2 (Qualitative - Multimodal Capability):</a:t>
            </a:r>
            <a:r>
              <a:rPr lang="en-US" dirty="0"/>
              <a:t>The system must successfully generate a correct answer for a query that requires the synthesis of information from at least two different data modalities</a:t>
            </a:r>
            <a:r>
              <a:rPr lang="tr-TR" dirty="0"/>
              <a:t>.</a:t>
            </a:r>
          </a:p>
          <a:p>
            <a:r>
              <a:rPr lang="en-US" b="1" dirty="0"/>
              <a:t>Criterion 3 (Qualitative - Source Citation):</a:t>
            </a:r>
            <a:r>
              <a:rPr lang="en-US" dirty="0"/>
              <a:t>When an answer is generated using information retrieved from a source document (e.g., a PDF), the system must correctly and automatically cite the source of the information (e.g., document name, page number) within its response.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Project Timeline</a:t>
            </a:r>
            <a:endParaRPr lang="en-US"/>
          </a:p>
        </p:txBody>
      </p:sp>
      <p:pic>
        <p:nvPicPr>
          <p:cNvPr id="12" name="Resim 11" descr="metin, ekran görüntüsü, çizgi, sayı, numara içeren bir resim">
            <a:extLst>
              <a:ext uri="{FF2B5EF4-FFF2-40B4-BE49-F238E27FC236}">
                <a16:creationId xmlns:a16="http://schemas.microsoft.com/office/drawing/2014/main" id="{B3D18130-DA76-918E-0A05-625E82F6F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6" y="1635760"/>
            <a:ext cx="11637547" cy="431460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15.10.2025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First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200" dirty="0"/>
              <a:t>Radford, A., et al. (2021). "Learning Transferable Visual Models From Natural Language Supervision". Proceedings of the 38th International Conference on Machine Learning. </a:t>
            </a:r>
            <a:endParaRPr lang="tr-TR" sz="2200" dirty="0"/>
          </a:p>
          <a:p>
            <a:pPr marL="514350" indent="-514350">
              <a:buAutoNum type="arabicPeriod"/>
            </a:pPr>
            <a:r>
              <a:rPr lang="en-US" sz="2200" dirty="0"/>
              <a:t>Herzig, J., et al. (2020). "TAPAS: Weakly Supervised Table Parsing via Pre-training". Proceedings of the 58th Annual Meeting of the Association for Computational Linguistics. </a:t>
            </a:r>
            <a:endParaRPr lang="tr-TR" sz="2200" dirty="0"/>
          </a:p>
          <a:p>
            <a:pPr marL="514350" indent="-514350">
              <a:buAutoNum type="arabicPeriod"/>
            </a:pPr>
            <a:r>
              <a:rPr lang="en-US" sz="2200" dirty="0"/>
              <a:t>Lewis, P., et al. (2020). "Retrieval-Augmented Generation for Knowledge-Intensive NLP Tasks". Advances in Neural Information Processing Systems 33.</a:t>
            </a:r>
            <a:endParaRPr lang="tr-TR" sz="2200" dirty="0"/>
          </a:p>
          <a:p>
            <a:pPr marL="514350" indent="-514350">
              <a:buAutoNum type="arabicPeriod"/>
            </a:pPr>
            <a:r>
              <a:rPr lang="tr-TR" sz="2200" dirty="0" err="1"/>
              <a:t>LangChain</a:t>
            </a:r>
            <a:r>
              <a:rPr lang="tr-TR" sz="2200" dirty="0"/>
              <a:t> </a:t>
            </a:r>
            <a:r>
              <a:rPr lang="tr-TR" sz="2200" dirty="0" err="1"/>
              <a:t>Documentation</a:t>
            </a:r>
            <a:r>
              <a:rPr lang="tr-TR" sz="2200" dirty="0"/>
              <a:t>. </a:t>
            </a:r>
            <a:r>
              <a:rPr lang="tr-TR" sz="2200" dirty="0" err="1"/>
              <a:t>LangChain</a:t>
            </a:r>
            <a:r>
              <a:rPr lang="tr-TR" sz="2200" dirty="0"/>
              <a:t>. </a:t>
            </a:r>
            <a:r>
              <a:rPr lang="tr-TR" sz="2200" dirty="0" err="1"/>
              <a:t>Retrieved</a:t>
            </a:r>
            <a:r>
              <a:rPr lang="tr-TR" sz="2200" dirty="0"/>
              <a:t> </a:t>
            </a:r>
            <a:r>
              <a:rPr lang="tr-TR" sz="2200" dirty="0" err="1"/>
              <a:t>October</a:t>
            </a:r>
            <a:r>
              <a:rPr lang="tr-TR" sz="2200" dirty="0"/>
              <a:t> 15, 2025, </a:t>
            </a:r>
            <a:r>
              <a:rPr lang="tr-TR" sz="2200" dirty="0" err="1"/>
              <a:t>from</a:t>
            </a:r>
            <a:r>
              <a:rPr lang="tr-TR" sz="2200" dirty="0"/>
              <a:t> </a:t>
            </a:r>
            <a:r>
              <a:rPr lang="tr-TR" sz="2200" dirty="0">
                <a:hlinkClick r:id="rId2"/>
              </a:rPr>
              <a:t>https://docs.langchain.com/</a:t>
            </a:r>
            <a:endParaRPr lang="tr-TR" sz="2200" dirty="0"/>
          </a:p>
          <a:p>
            <a:pPr marL="514350" indent="-514350">
              <a:buAutoNum type="arabicPeriod"/>
            </a:pPr>
            <a:r>
              <a:rPr lang="tr-TR" sz="2200" dirty="0"/>
              <a:t>H</a:t>
            </a:r>
            <a:r>
              <a:rPr lang="en-US" sz="2200" dirty="0" err="1"/>
              <a:t>ugging</a:t>
            </a:r>
            <a:r>
              <a:rPr lang="en-US" sz="2200" dirty="0"/>
              <a:t> Face Documentation. Hugging Face. Retrieved October 15, 2025, from https://huggingface.co/docs</a:t>
            </a:r>
            <a:endParaRPr lang="tr-TR" sz="22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15.10.2025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84023-2426-4597-A7B7-5BEBE999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</TotalTime>
  <Words>638</Words>
  <Application>Microsoft Office PowerPoint</Application>
  <PresentationFormat>Geniş ekran</PresentationFormat>
  <Paragraphs>71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Arial Narrow</vt:lpstr>
      <vt:lpstr>Calibri</vt:lpstr>
      <vt:lpstr>GTU-ŞABLON-1</vt:lpstr>
      <vt:lpstr>Multimodal RAG for Integrating Tabular, Text and Image Data</vt:lpstr>
      <vt:lpstr>Contents</vt:lpstr>
      <vt:lpstr>Project Definition</vt:lpstr>
      <vt:lpstr>Project Design</vt:lpstr>
      <vt:lpstr>Project Requirements</vt:lpstr>
      <vt:lpstr>Project Requirements</vt:lpstr>
      <vt:lpstr>Success Criteria</vt:lpstr>
      <vt:lpstr>Project Timeline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Taha Alparslan Atabey</cp:lastModifiedBy>
  <cp:revision>44</cp:revision>
  <dcterms:created xsi:type="dcterms:W3CDTF">2015-02-28T16:59:24Z</dcterms:created>
  <dcterms:modified xsi:type="dcterms:W3CDTF">2025-10-14T21:49:52Z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