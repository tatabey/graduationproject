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71" r:id="rId7"/>
    <p:sldId id="275" r:id="rId8"/>
    <p:sldId id="272" r:id="rId9"/>
    <p:sldId id="274" r:id="rId10"/>
    <p:sldId id="270" r:id="rId11"/>
    <p:sldId id="276" r:id="rId12"/>
    <p:sldId id="27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3" autoAdjust="0"/>
    <p:restoredTop sz="94666"/>
  </p:normalViewPr>
  <p:slideViewPr>
    <p:cSldViewPr snapToGrid="0" snapToObjects="1">
      <p:cViewPr>
        <p:scale>
          <a:sx n="75" d="100"/>
          <a:sy n="75" d="100"/>
        </p:scale>
        <p:origin x="73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13.01.2026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484" y="2121408"/>
            <a:ext cx="9980529" cy="1533046"/>
          </a:xfrm>
        </p:spPr>
        <p:txBody>
          <a:bodyPr>
            <a:normAutofit fontScale="90000"/>
          </a:bodyPr>
          <a:lstStyle/>
          <a:p>
            <a:r>
              <a:rPr lang="en-US" dirty="0"/>
              <a:t>Task-Adaptive Fine-Tuning of Multimodal Foundation Models across Tables, Text, and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1613" y="3840025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tr-TR" dirty="0"/>
              <a:t>Final</a:t>
            </a:r>
            <a:r>
              <a:rPr lang="en-US" dirty="0"/>
              <a:t>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Taha Alparslan Atabey</a:t>
            </a:r>
          </a:p>
          <a:p>
            <a:endParaRPr lang="tr-TR" dirty="0"/>
          </a:p>
          <a:p>
            <a:r>
              <a:rPr lang="en-US" dirty="0"/>
              <a:t>Advisor: Asst. Prof. </a:t>
            </a:r>
            <a:r>
              <a:rPr lang="tr-TR" dirty="0"/>
              <a:t>Dr. Salih Sarp</a:t>
            </a:r>
          </a:p>
          <a:p>
            <a:r>
              <a:rPr lang="tr-TR" dirty="0" err="1"/>
              <a:t>January</a:t>
            </a:r>
            <a:r>
              <a:rPr lang="en-US" dirty="0"/>
              <a:t> 202</a:t>
            </a:r>
            <a:r>
              <a:rPr lang="tr-T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170" y="1632265"/>
            <a:ext cx="11637547" cy="4175868"/>
          </a:xfrm>
        </p:spPr>
        <p:txBody>
          <a:bodyPr>
            <a:normAutofit/>
          </a:bodyPr>
          <a:lstStyle/>
          <a:p>
            <a:r>
              <a:rPr lang="tr-TR" dirty="0"/>
              <a:t>Problem Definition</a:t>
            </a:r>
          </a:p>
          <a:p>
            <a:r>
              <a:rPr lang="tr-TR" dirty="0"/>
              <a:t>Project </a:t>
            </a:r>
            <a:r>
              <a:rPr lang="tr-TR" dirty="0" err="1"/>
              <a:t>Scope</a:t>
            </a:r>
            <a:r>
              <a:rPr lang="tr-TR" dirty="0"/>
              <a:t> &amp; </a:t>
            </a:r>
            <a:r>
              <a:rPr lang="tr-TR" dirty="0" err="1"/>
              <a:t>Academic</a:t>
            </a:r>
            <a:r>
              <a:rPr lang="tr-TR" dirty="0"/>
              <a:t> Foundation</a:t>
            </a:r>
          </a:p>
          <a:p>
            <a:r>
              <a:rPr lang="tr-TR" dirty="0" err="1"/>
              <a:t>Comparative</a:t>
            </a:r>
            <a:r>
              <a:rPr lang="tr-TR" dirty="0"/>
              <a:t> </a:t>
            </a:r>
            <a:r>
              <a:rPr lang="tr-TR" dirty="0" err="1"/>
              <a:t>Observations</a:t>
            </a:r>
            <a:endParaRPr lang="tr-TR" dirty="0"/>
          </a:p>
          <a:p>
            <a:r>
              <a:rPr lang="tr-TR" dirty="0" err="1"/>
              <a:t>Proposed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Design</a:t>
            </a:r>
          </a:p>
          <a:p>
            <a:r>
              <a:rPr lang="en-US" dirty="0"/>
              <a:t>Proof of Concept (PoC) &amp; Scenario Results</a:t>
            </a:r>
            <a:endParaRPr lang="tr-TR" dirty="0"/>
          </a:p>
          <a:p>
            <a:r>
              <a:rPr lang="en-US" dirty="0"/>
              <a:t>Future Roadmap &amp; Phase 2 Planning</a:t>
            </a:r>
            <a:endParaRPr lang="tr-TR" dirty="0"/>
          </a:p>
          <a:p>
            <a:r>
              <a:rPr lang="tr-TR" dirty="0" err="1"/>
              <a:t>References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262-4E85-EFFE-CFEA-57A779F1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7C06-15CB-3E9F-971C-F072BA94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Problem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B9A9-5098-CBBA-D8E9-9B93EE259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26" y="1386347"/>
            <a:ext cx="11637547" cy="35340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i="1" dirty="0"/>
              <a:t>Multimodal Data Complexity</a:t>
            </a:r>
            <a:endParaRPr lang="tr-TR" sz="2800" b="1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/>
              <a:t>Inadequacy of standard search methods (e.g., CTRL+F) in documents containing text, tables, and images .</a:t>
            </a:r>
            <a:r>
              <a:rPr lang="tr-TR" sz="25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1" dirty="0"/>
              <a:t>Structural Loss of 2D Data</a:t>
            </a:r>
            <a:endParaRPr lang="tr-TR" sz="2800" b="1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/>
              <a:t>Loss of Spatial Logic when 2D table structures are reduced to 1D text sequences.</a:t>
            </a:r>
            <a:endParaRPr lang="tr-TR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1" dirty="0"/>
              <a:t>Cognitive Load and Safety Risks</a:t>
            </a:r>
            <a:endParaRPr lang="tr-TR" sz="2800" b="1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/>
              <a:t>Operator fatigue and critical safety errors caused by manual data tracking.</a:t>
            </a:r>
            <a:endParaRPr lang="tr-TR" sz="2500" dirty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9E12E-4441-B054-9D5E-0C6C0BE1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A8F2-D2A3-3719-885D-A6F55BCE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731AB-916C-5C33-412C-EEFEB3EB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CD4358C-1F93-2031-DAAE-3C17FFFB9EE1}"/>
              </a:ext>
            </a:extLst>
          </p:cNvPr>
          <p:cNvSpPr txBox="1"/>
          <p:nvPr/>
        </p:nvSpPr>
        <p:spPr>
          <a:xfrm>
            <a:off x="920358" y="5146229"/>
            <a:ext cx="1035128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500" b="1" i="1" dirty="0">
                <a:latin typeface="Arial Narrow" panose="020B0606020202030204" pitchFamily="34" charset="0"/>
              </a:rPr>
              <a:t>IN ONE SENTENCE:</a:t>
            </a:r>
            <a:r>
              <a:rPr lang="tr-TR" sz="25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Reconstructing the structural logic of static documents in a digital environment; transforming complex data stacks into an error-free, secure, and verifiable decision support system within seconds.</a:t>
            </a:r>
            <a:endParaRPr lang="tr-TR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27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4843-630F-0A8C-3CA7-5F935787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F7EA-192C-3986-BD71-7A9C5533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Scope</a:t>
            </a:r>
            <a:r>
              <a:rPr lang="tr-TR" dirty="0"/>
              <a:t> &amp; </a:t>
            </a:r>
            <a:r>
              <a:rPr lang="tr-TR" dirty="0" err="1"/>
              <a:t>Academic</a:t>
            </a:r>
            <a:r>
              <a:rPr lang="tr-TR" dirty="0"/>
              <a:t> Foundation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C64E-0120-C055-808B-2289984FD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20" y="1272061"/>
            <a:ext cx="11887200" cy="53065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2800" dirty="0"/>
              <a:t> </a:t>
            </a:r>
            <a:r>
              <a:rPr lang="tr-TR" sz="2800" b="1" i="1" dirty="0"/>
              <a:t>Two-</a:t>
            </a:r>
            <a:r>
              <a:rPr lang="tr-TR" sz="2800" b="1" i="1" dirty="0" err="1"/>
              <a:t>Semester</a:t>
            </a:r>
            <a:r>
              <a:rPr lang="tr-TR" sz="2800" b="1" i="1" dirty="0"/>
              <a:t> Strategic </a:t>
            </a:r>
            <a:r>
              <a:rPr lang="tr-TR" sz="2800" b="1" i="1" dirty="0" err="1"/>
              <a:t>Roadmap</a:t>
            </a:r>
            <a:endParaRPr lang="tr-TR" sz="2800" b="1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Phase 1 (Current): Literature review, architecture selection, and successful</a:t>
            </a:r>
            <a:r>
              <a:rPr lang="en-US" sz="2400" b="1" i="1" dirty="0"/>
              <a:t> Proof of Concept (PoC)</a:t>
            </a:r>
            <a:r>
              <a:rPr lang="en-US" sz="2400" dirty="0"/>
              <a:t> validation.</a:t>
            </a:r>
            <a:endParaRPr lang="tr-TR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Phase 2 development and scaling plans will be detailed in the "Future Roadmap" section.</a:t>
            </a:r>
            <a:endParaRPr lang="tr-T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800" b="1" i="1" dirty="0" err="1"/>
              <a:t>Evolution</a:t>
            </a:r>
            <a:r>
              <a:rPr lang="tr-TR" sz="2800" b="1" i="1" dirty="0"/>
              <a:t> of Project </a:t>
            </a:r>
            <a:r>
              <a:rPr lang="tr-TR" sz="2800" b="1" i="1" dirty="0" err="1"/>
              <a:t>Vision</a:t>
            </a:r>
            <a:endParaRPr lang="tr-TR" sz="2800" b="1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Transitioned from "Multimodal RAG for Integrating Tabular, Text and Image Data" to a specialized focus on the complexity of military standards (e.g., NATO AASTP-1).</a:t>
            </a:r>
            <a:endParaRPr lang="tr-TR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Current Title: "Task-Adaptive Fine-Tuning of Multimodal Foundation Models across Tables, Text, and Images."</a:t>
            </a:r>
            <a:endParaRPr lang="tr-T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800" b="1" i="1" dirty="0" err="1"/>
              <a:t>Academic</a:t>
            </a:r>
            <a:r>
              <a:rPr lang="tr-TR" sz="2800" b="1" i="1" dirty="0"/>
              <a:t> Foundation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System architecture is grounded in an analysis of </a:t>
            </a:r>
            <a:r>
              <a:rPr lang="en-US" sz="2400" b="1" i="1" dirty="0"/>
              <a:t>25+ peer-reviewed papers</a:t>
            </a:r>
            <a:r>
              <a:rPr lang="en-US" sz="2400" dirty="0"/>
              <a:t> on Multimodal RAG, Fine-Tuning, and Spatial Logic (e.g., Emergent Abilities, Chain-of-Thought (</a:t>
            </a:r>
            <a:r>
              <a:rPr lang="en-US" sz="2400" dirty="0" err="1"/>
              <a:t>CoT</a:t>
            </a:r>
            <a:r>
              <a:rPr lang="en-US" sz="2400" dirty="0"/>
              <a:t>) Reasoning).</a:t>
            </a:r>
            <a:endParaRPr lang="tr-TR" sz="2400" dirty="0"/>
          </a:p>
          <a:p>
            <a:pPr marL="457200" lvl="1" indent="0">
              <a:buNone/>
            </a:pP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B11C3-DA16-D4A8-2B0C-17DC1034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09594-5B71-8466-14E0-5162EA41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D645E-DF14-F8A7-FB78-0C6B26F0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4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D2B317-D794-950B-9051-A8E9AADA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Comparative</a:t>
            </a:r>
            <a:r>
              <a:rPr lang="tr-TR" dirty="0"/>
              <a:t> </a:t>
            </a:r>
            <a:r>
              <a:rPr lang="tr-TR" dirty="0" err="1"/>
              <a:t>Observations</a:t>
            </a:r>
            <a:r>
              <a:rPr lang="tr-TR" dirty="0"/>
              <a:t> - 1</a:t>
            </a:r>
            <a:endParaRPr lang="tr-TR"/>
          </a:p>
        </p:txBody>
      </p:sp>
      <p:pic>
        <p:nvPicPr>
          <p:cNvPr id="8" name="İçerik Yer Tutucusu 7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97DA50B-5B7D-B0DF-D52B-E86C7850B9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6170" y="1912380"/>
            <a:ext cx="7627218" cy="3832676"/>
          </a:xfr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76B187B-6695-0FFC-8FA5-1B25AA5BA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13387" y="1713838"/>
            <a:ext cx="3992444" cy="4229761"/>
          </a:xfrm>
        </p:spPr>
        <p:txBody>
          <a:bodyPr>
            <a:normAutofit/>
          </a:bodyPr>
          <a:lstStyle/>
          <a:p>
            <a:r>
              <a:rPr lang="en-US" sz="2600" b="1" dirty="0"/>
              <a:t>Persona</a:t>
            </a:r>
            <a:endParaRPr lang="tr-TR" sz="2600" b="1" dirty="0"/>
          </a:p>
          <a:p>
            <a:pPr lvl="1"/>
            <a:r>
              <a:rPr lang="en-US" sz="2200" dirty="0"/>
              <a:t>Fine-tuning successfully established a professional reporting style and military terminology.</a:t>
            </a:r>
            <a:endParaRPr lang="tr-TR" sz="2200" dirty="0"/>
          </a:p>
          <a:p>
            <a:r>
              <a:rPr lang="en-US" sz="2600" b="1" dirty="0"/>
              <a:t>Memory Constraints</a:t>
            </a:r>
            <a:endParaRPr lang="tr-TR" sz="2600" b="1" dirty="0"/>
          </a:p>
          <a:p>
            <a:pPr lvl="1"/>
            <a:r>
              <a:rPr lang="en-US" sz="2200" dirty="0"/>
              <a:t>Standalone FT remains susceptible to hallucinations and "Catastrophic Forgetting" in dense tabular data.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3773FB-798D-FCFA-06F2-36742B95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C293499-CC35-5ED1-555E-D4019F90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44557D-CF09-7885-1931-0DCCC002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5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9632-D88B-7C4D-780A-F87F8C3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38B32F-9343-B817-6734-9D6301CD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Comparative</a:t>
            </a:r>
            <a:r>
              <a:rPr lang="tr-TR" dirty="0"/>
              <a:t> </a:t>
            </a:r>
            <a:r>
              <a:rPr lang="tr-TR" dirty="0" err="1"/>
              <a:t>Observations</a:t>
            </a:r>
            <a:r>
              <a:rPr lang="tr-TR" dirty="0"/>
              <a:t> - 2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796A50C-97C0-CA80-0344-DB7BA542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13387" y="1713838"/>
            <a:ext cx="3992444" cy="4229761"/>
          </a:xfrm>
        </p:spPr>
        <p:txBody>
          <a:bodyPr>
            <a:normAutofit/>
          </a:bodyPr>
          <a:lstStyle/>
          <a:p>
            <a:r>
              <a:rPr lang="en-US" sz="2600" b="1" dirty="0"/>
              <a:t>Factual Grounding</a:t>
            </a:r>
            <a:endParaRPr lang="tr-TR" sz="2600" b="1" dirty="0"/>
          </a:p>
          <a:p>
            <a:pPr lvl="1"/>
            <a:r>
              <a:rPr lang="en-US" sz="2200" dirty="0"/>
              <a:t>RAG ensures "factual accuracy" by anchoring responses directly to the source document (AASTP-1).</a:t>
            </a:r>
            <a:endParaRPr lang="tr-TR" sz="2200" dirty="0"/>
          </a:p>
          <a:p>
            <a:r>
              <a:rPr lang="tr-TR" sz="2600" b="1" dirty="0" err="1"/>
              <a:t>Hybrid</a:t>
            </a:r>
            <a:r>
              <a:rPr lang="tr-TR" sz="2600" b="1" dirty="0"/>
              <a:t> </a:t>
            </a:r>
            <a:r>
              <a:rPr lang="tr-TR" sz="2600" b="1" dirty="0" err="1"/>
              <a:t>Stability</a:t>
            </a:r>
            <a:endParaRPr lang="tr-TR" sz="2600" b="1" dirty="0"/>
          </a:p>
          <a:p>
            <a:pPr lvl="1"/>
            <a:r>
              <a:rPr lang="en-US" sz="2200" dirty="0"/>
              <a:t>The combination of military "persona" from FT and "grounded facts" from RAG minimizes the risk of hallucination.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83E5CAD-3C50-B9A8-2698-4AF90059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8BB32B-5232-9607-DB8B-71850C38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500D544-0ACA-E652-EAD1-079764CD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3" name="İçerik Yer Tutucusu 9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912428A-C0BF-DA8C-3F0C-1C5BADC0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68" y="1912380"/>
            <a:ext cx="7671374" cy="381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4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C2B2-5FE1-6125-0EF1-29AAA56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AE1FCB2-EBC6-03F4-EB32-A904E8B7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Proposed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Design </a:t>
            </a:r>
          </a:p>
        </p:txBody>
      </p:sp>
      <p:pic>
        <p:nvPicPr>
          <p:cNvPr id="10" name="Resim 9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59B5252-FA52-DE44-D2B4-E801B90C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61" y="1273532"/>
            <a:ext cx="4084899" cy="5305067"/>
          </a:xfrm>
          <a:prstGeom prst="rect">
            <a:avLst/>
          </a:prstGeom>
          <a:noFill/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4C80EE5-B674-17A5-F133-D3F97AD7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5369" y="2649625"/>
            <a:ext cx="5958348" cy="2552879"/>
          </a:xfrm>
        </p:spPr>
        <p:txBody>
          <a:bodyPr>
            <a:normAutofit/>
          </a:bodyPr>
          <a:lstStyle/>
          <a:p>
            <a:r>
              <a:rPr lang="en-US" sz="2200" b="1" dirty="0"/>
              <a:t>Ingestion &amp; Structure Recovery: </a:t>
            </a:r>
            <a:r>
              <a:rPr lang="en-US" sz="2200" dirty="0" err="1"/>
              <a:t>MinerU</a:t>
            </a:r>
            <a:r>
              <a:rPr lang="en-US" sz="2200" dirty="0"/>
              <a:t> 2.5 (VLM)</a:t>
            </a:r>
            <a:endParaRPr lang="tr-TR" sz="2200" dirty="0"/>
          </a:p>
          <a:p>
            <a:r>
              <a:rPr lang="tr-TR" sz="2200" b="1" dirty="0" err="1"/>
              <a:t>Embedding</a:t>
            </a:r>
            <a:r>
              <a:rPr lang="tr-TR" sz="2200" b="1" dirty="0"/>
              <a:t> Model: </a:t>
            </a:r>
            <a:r>
              <a:rPr lang="tr-TR" sz="2200" dirty="0"/>
              <a:t>all-MiniLM-L6-v2</a:t>
            </a:r>
          </a:p>
          <a:p>
            <a:r>
              <a:rPr lang="tr-TR" sz="2200" b="1" dirty="0" err="1"/>
              <a:t>Vector</a:t>
            </a:r>
            <a:r>
              <a:rPr lang="tr-TR" sz="2200" b="1" dirty="0"/>
              <a:t> Database: </a:t>
            </a:r>
            <a:r>
              <a:rPr lang="tr-TR" sz="2200" dirty="0" err="1"/>
              <a:t>ChromaDB</a:t>
            </a:r>
            <a:endParaRPr lang="tr-TR" sz="2200" dirty="0"/>
          </a:p>
          <a:p>
            <a:r>
              <a:rPr lang="en-US" sz="2200" b="1" dirty="0"/>
              <a:t>Synthetic Reasoning Factory: </a:t>
            </a:r>
            <a:r>
              <a:rPr lang="en-US" sz="2200" dirty="0"/>
              <a:t>Gemma-2-9B</a:t>
            </a:r>
            <a:endParaRPr lang="tr-TR" sz="2200" dirty="0"/>
          </a:p>
          <a:p>
            <a:r>
              <a:rPr lang="en-US" sz="2200" b="1" dirty="0"/>
              <a:t>Knowledge Internalization: </a:t>
            </a:r>
            <a:r>
              <a:rPr lang="en-US" sz="2200" dirty="0" err="1"/>
              <a:t>Unsloth</a:t>
            </a:r>
            <a:r>
              <a:rPr lang="en-US" sz="2200" dirty="0"/>
              <a:t> &amp; </a:t>
            </a:r>
            <a:r>
              <a:rPr lang="en-US" sz="2200" dirty="0" err="1"/>
              <a:t>QLoRA</a:t>
            </a:r>
            <a:endParaRPr lang="tr-TR" sz="2200" dirty="0"/>
          </a:p>
          <a:p>
            <a:r>
              <a:rPr lang="es-ES" sz="2200" b="1" dirty="0"/>
              <a:t>Fine-Tuned Local Model: </a:t>
            </a:r>
            <a:r>
              <a:rPr lang="es-ES" sz="2200" dirty="0"/>
              <a:t>Llama-3</a:t>
            </a:r>
            <a:r>
              <a:rPr lang="tr-TR" sz="2200" dirty="0"/>
              <a:t>.2</a:t>
            </a:r>
            <a:r>
              <a:rPr lang="es-ES" sz="2200" dirty="0"/>
              <a:t>-</a:t>
            </a:r>
            <a:r>
              <a:rPr lang="tr-TR" sz="2200" dirty="0"/>
              <a:t>3</a:t>
            </a:r>
            <a:r>
              <a:rPr lang="es-ES" sz="2200" dirty="0"/>
              <a:t>B (SLM)</a:t>
            </a:r>
            <a:endParaRPr lang="tr-TR" sz="22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383CAA-1354-0BB5-DA56-84623931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1BAB61E-CA5D-9AD6-DB33-2FA5EDDD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14F21A4-ABAE-E6C8-D3CA-D5E27917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9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8828-48A0-B46A-66DE-6A9718DB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 descr="metin, diyagram, paralel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CB8DA76-12EA-C1E6-BFDF-F8997AB8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4" y="1298478"/>
            <a:ext cx="3758005" cy="52679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Unvan 1">
            <a:extLst>
              <a:ext uri="{FF2B5EF4-FFF2-40B4-BE49-F238E27FC236}">
                <a16:creationId xmlns:a16="http://schemas.microsoft.com/office/drawing/2014/main" id="{7512DE65-C391-4586-843A-F09B5387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dirty="0" err="1"/>
              <a:t>Proof</a:t>
            </a:r>
            <a:r>
              <a:rPr lang="tr-TR" dirty="0"/>
              <a:t> of </a:t>
            </a:r>
            <a:r>
              <a:rPr lang="tr-TR" dirty="0" err="1"/>
              <a:t>Concept</a:t>
            </a:r>
            <a:r>
              <a:rPr lang="tr-TR" dirty="0"/>
              <a:t> &amp; </a:t>
            </a:r>
            <a:r>
              <a:rPr lang="tr-TR" dirty="0" err="1"/>
              <a:t>Scenario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19D3A8-93A9-9640-D14D-BF85F3A5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F6115652-5E91-9F90-9031-BAF763C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ED1EF52-1FC7-6C6B-85C9-746639B5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2" name="Resim 11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2D304BB-DAFE-9508-47C3-60E843BE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707" y="1310640"/>
            <a:ext cx="6246418" cy="3198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Resim 17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C2B25DC-6382-7C28-8F49-60B5C94AB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706" y="4643184"/>
            <a:ext cx="6246419" cy="18957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1" name="Grup 30">
            <a:extLst>
              <a:ext uri="{FF2B5EF4-FFF2-40B4-BE49-F238E27FC236}">
                <a16:creationId xmlns:a16="http://schemas.microsoft.com/office/drawing/2014/main" id="{C20A4DFF-548A-502A-6635-966B41A01327}"/>
              </a:ext>
            </a:extLst>
          </p:cNvPr>
          <p:cNvGrpSpPr/>
          <p:nvPr/>
        </p:nvGrpSpPr>
        <p:grpSpPr>
          <a:xfrm>
            <a:off x="1676400" y="2738659"/>
            <a:ext cx="1242060" cy="729408"/>
            <a:chOff x="1676400" y="2738659"/>
            <a:chExt cx="1242060" cy="729408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CF4E1FAA-93EA-F8E7-D60A-16920AD5E687}"/>
                </a:ext>
              </a:extLst>
            </p:cNvPr>
            <p:cNvGrpSpPr/>
            <p:nvPr/>
          </p:nvGrpSpPr>
          <p:grpSpPr>
            <a:xfrm>
              <a:off x="2760346" y="3359738"/>
              <a:ext cx="158114" cy="108329"/>
              <a:chOff x="-6733" y="-19050"/>
              <a:chExt cx="62465" cy="42797"/>
            </a:xfrm>
          </p:grpSpPr>
          <p:sp>
            <p:nvSpPr>
              <p:cNvPr id="39" name="Freeform 10">
                <a:extLst>
                  <a:ext uri="{FF2B5EF4-FFF2-40B4-BE49-F238E27FC236}">
                    <a16:creationId xmlns:a16="http://schemas.microsoft.com/office/drawing/2014/main" id="{44397D3C-7BC0-BCB4-62F1-621396E3A935}"/>
                  </a:ext>
                </a:extLst>
              </p:cNvPr>
              <p:cNvSpPr/>
              <p:nvPr/>
            </p:nvSpPr>
            <p:spPr>
              <a:xfrm>
                <a:off x="-6733" y="0"/>
                <a:ext cx="62465" cy="23747"/>
              </a:xfrm>
              <a:custGeom>
                <a:avLst/>
                <a:gdLst/>
                <a:ahLst/>
                <a:cxnLst/>
                <a:rect l="l" t="t" r="r" b="b"/>
                <a:pathLst>
                  <a:path w="49392" h="23747">
                    <a:moveTo>
                      <a:pt x="0" y="0"/>
                    </a:moveTo>
                    <a:lnTo>
                      <a:pt x="49392" y="0"/>
                    </a:lnTo>
                    <a:lnTo>
                      <a:pt x="49392" y="23747"/>
                    </a:lnTo>
                    <a:lnTo>
                      <a:pt x="0" y="23747"/>
                    </a:lnTo>
                    <a:close/>
                  </a:path>
                </a:pathLst>
              </a:custGeom>
              <a:solidFill>
                <a:srgbClr val="DD312D">
                  <a:alpha val="49804"/>
                </a:srgbClr>
              </a:solidFill>
            </p:spPr>
            <p:txBody>
              <a:bodyPr/>
              <a:lstStyle/>
              <a:p>
                <a:endParaRPr lang="tr-TR" sz="1200"/>
              </a:p>
            </p:txBody>
          </p:sp>
          <p:sp>
            <p:nvSpPr>
              <p:cNvPr id="40" name="TextBox 11">
                <a:extLst>
                  <a:ext uri="{FF2B5EF4-FFF2-40B4-BE49-F238E27FC236}">
                    <a16:creationId xmlns:a16="http://schemas.microsoft.com/office/drawing/2014/main" id="{B0285AD7-8E04-D8F5-8098-0212EE1A046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49392" cy="4279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/>
              </a:p>
            </p:txBody>
          </p:sp>
        </p:grpSp>
        <p:grpSp>
          <p:nvGrpSpPr>
            <p:cNvPr id="33" name="Group 12">
              <a:extLst>
                <a:ext uri="{FF2B5EF4-FFF2-40B4-BE49-F238E27FC236}">
                  <a16:creationId xmlns:a16="http://schemas.microsoft.com/office/drawing/2014/main" id="{6B00A1AA-052B-0AE8-9B86-354EB2209371}"/>
                </a:ext>
              </a:extLst>
            </p:cNvPr>
            <p:cNvGrpSpPr/>
            <p:nvPr/>
          </p:nvGrpSpPr>
          <p:grpSpPr>
            <a:xfrm>
              <a:off x="2036445" y="2738659"/>
              <a:ext cx="175261" cy="135228"/>
              <a:chOff x="-7672" y="-19050"/>
              <a:chExt cx="69239" cy="53424"/>
            </a:xfrm>
          </p:grpSpPr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49CC5336-D0A4-5C64-C491-DFCFF7094ECC}"/>
                  </a:ext>
                </a:extLst>
              </p:cNvPr>
              <p:cNvSpPr/>
              <p:nvPr/>
            </p:nvSpPr>
            <p:spPr>
              <a:xfrm>
                <a:off x="-7672" y="5108"/>
                <a:ext cx="69239" cy="29266"/>
              </a:xfrm>
              <a:custGeom>
                <a:avLst/>
                <a:gdLst/>
                <a:ahLst/>
                <a:cxnLst/>
                <a:rect l="l" t="t" r="r" b="b"/>
                <a:pathLst>
                  <a:path w="49392" h="29266">
                    <a:moveTo>
                      <a:pt x="0" y="0"/>
                    </a:moveTo>
                    <a:lnTo>
                      <a:pt x="49392" y="0"/>
                    </a:lnTo>
                    <a:lnTo>
                      <a:pt x="49392" y="29266"/>
                    </a:lnTo>
                    <a:lnTo>
                      <a:pt x="0" y="29266"/>
                    </a:lnTo>
                    <a:close/>
                  </a:path>
                </a:pathLst>
              </a:custGeom>
              <a:solidFill>
                <a:srgbClr val="0B881D">
                  <a:alpha val="49804"/>
                </a:srgbClr>
              </a:solidFill>
            </p:spPr>
            <p:txBody>
              <a:bodyPr/>
              <a:lstStyle/>
              <a:p>
                <a:endParaRPr lang="tr-TR" sz="1200" dirty="0"/>
              </a:p>
            </p:txBody>
          </p:sp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id="{7508535D-C8A7-4859-533A-9003CDF83C5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49392" cy="4831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/>
              </a:p>
            </p:txBody>
          </p:sp>
        </p:grpSp>
        <p:grpSp>
          <p:nvGrpSpPr>
            <p:cNvPr id="34" name="Group 15">
              <a:extLst>
                <a:ext uri="{FF2B5EF4-FFF2-40B4-BE49-F238E27FC236}">
                  <a16:creationId xmlns:a16="http://schemas.microsoft.com/office/drawing/2014/main" id="{2269BBF8-37E7-20EE-3C3A-5702C504F79C}"/>
                </a:ext>
              </a:extLst>
            </p:cNvPr>
            <p:cNvGrpSpPr/>
            <p:nvPr/>
          </p:nvGrpSpPr>
          <p:grpSpPr>
            <a:xfrm>
              <a:off x="1676400" y="2929158"/>
              <a:ext cx="175261" cy="148969"/>
              <a:chOff x="0" y="-19050"/>
              <a:chExt cx="69239" cy="58852"/>
            </a:xfrm>
          </p:grpSpPr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B028BE6D-0068-7B0D-0F4A-25A171652546}"/>
                  </a:ext>
                </a:extLst>
              </p:cNvPr>
              <p:cNvSpPr/>
              <p:nvPr/>
            </p:nvSpPr>
            <p:spPr>
              <a:xfrm>
                <a:off x="0" y="0"/>
                <a:ext cx="69239" cy="39802"/>
              </a:xfrm>
              <a:custGeom>
                <a:avLst/>
                <a:gdLst/>
                <a:ahLst/>
                <a:cxnLst/>
                <a:rect l="l" t="t" r="r" b="b"/>
                <a:pathLst>
                  <a:path w="63942" h="39802">
                    <a:moveTo>
                      <a:pt x="0" y="0"/>
                    </a:moveTo>
                    <a:lnTo>
                      <a:pt x="63942" y="0"/>
                    </a:lnTo>
                    <a:lnTo>
                      <a:pt x="63942" y="39802"/>
                    </a:lnTo>
                    <a:lnTo>
                      <a:pt x="0" y="39802"/>
                    </a:lnTo>
                    <a:close/>
                  </a:path>
                </a:pathLst>
              </a:custGeom>
              <a:solidFill>
                <a:srgbClr val="010101">
                  <a:alpha val="24706"/>
                </a:srgbClr>
              </a:solidFill>
            </p:spPr>
            <p:txBody>
              <a:bodyPr/>
              <a:lstStyle/>
              <a:p>
                <a:endParaRPr lang="tr-TR" sz="1200" dirty="0"/>
              </a:p>
            </p:txBody>
          </p:sp>
          <p:sp>
            <p:nvSpPr>
              <p:cNvPr id="36" name="TextBox 17">
                <a:extLst>
                  <a:ext uri="{FF2B5EF4-FFF2-40B4-BE49-F238E27FC236}">
                    <a16:creationId xmlns:a16="http://schemas.microsoft.com/office/drawing/2014/main" id="{7D05C6BF-4405-C206-808C-3E7A4CCF3BD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3942" cy="58852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446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79CB-87C2-398D-A150-A2A99524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43C8FFF-ED83-7E6C-B71A-F8C063BE9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Future Roadmap &amp; Phase 2 Planning</a:t>
            </a:r>
            <a:endParaRPr lang="tr-TR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86F342E-F5C9-967E-71E5-D53A10E5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55" y="1288026"/>
            <a:ext cx="10937890" cy="5114242"/>
          </a:xfrm>
        </p:spPr>
        <p:txBody>
          <a:bodyPr>
            <a:normAutofit/>
          </a:bodyPr>
          <a:lstStyle/>
          <a:p>
            <a:r>
              <a:rPr lang="en-US" sz="2400" b="1" i="1" dirty="0"/>
              <a:t>Data and Operational Scaling</a:t>
            </a:r>
            <a:endParaRPr lang="tr-TR" sz="2400" b="1" i="1" dirty="0"/>
          </a:p>
          <a:p>
            <a:pPr lvl="1"/>
            <a:r>
              <a:rPr lang="en-US" sz="1900" dirty="0"/>
              <a:t>Scaling from the limited PoC dataset to comprehensive PDF processing capabilities for the entire document repository in Phase 2.</a:t>
            </a:r>
            <a:endParaRPr lang="tr-TR" sz="1900" dirty="0"/>
          </a:p>
          <a:p>
            <a:pPr lvl="1"/>
            <a:r>
              <a:rPr lang="en-US" sz="1900" dirty="0"/>
              <a:t>Advancing the system to process complex multimodal structures (text, tables, and images) accurately across all documents.</a:t>
            </a:r>
            <a:endParaRPr lang="tr-TR" sz="1900" dirty="0"/>
          </a:p>
          <a:p>
            <a:r>
              <a:rPr lang="en-US" sz="2400" b="1" i="1" dirty="0"/>
              <a:t>Advanced Chatbot and Interaction Capabilities</a:t>
            </a:r>
            <a:endParaRPr lang="tr-TR" sz="2400" b="1" i="1" dirty="0"/>
          </a:p>
          <a:p>
            <a:pPr lvl="1"/>
            <a:r>
              <a:rPr lang="en-US" sz="1900" dirty="0"/>
              <a:t>Transforming the system into an intelligent assistant capable of answering general and free-format queries beyond rule-based audits.</a:t>
            </a:r>
            <a:endParaRPr lang="tr-TR" sz="1900" dirty="0"/>
          </a:p>
          <a:p>
            <a:pPr lvl="1"/>
            <a:r>
              <a:rPr lang="en-US" sz="1900" dirty="0"/>
              <a:t>Evolving the user experience from an "audit tool" to a "decision support assistant" via natural and context-aware dialogue.</a:t>
            </a:r>
            <a:endParaRPr lang="tr-TR" sz="1900" dirty="0"/>
          </a:p>
          <a:p>
            <a:r>
              <a:rPr lang="en-US" sz="2400" b="1" i="1" dirty="0"/>
              <a:t>Hardware and Strategic Partnership</a:t>
            </a:r>
            <a:endParaRPr lang="tr-TR" sz="2400" b="1" i="1" dirty="0"/>
          </a:p>
          <a:p>
            <a:pPr lvl="1"/>
            <a:r>
              <a:rPr lang="en-US" sz="1900" dirty="0"/>
              <a:t>Establishing a strategic partnership with </a:t>
            </a:r>
            <a:r>
              <a:rPr lang="en-US" sz="1900" b="1" i="1" dirty="0"/>
              <a:t>ILGE AI </a:t>
            </a:r>
            <a:r>
              <a:rPr lang="en-US" sz="1900" dirty="0"/>
              <a:t>to meet the hardware requirements for large-scale model training and high-performance inference.</a:t>
            </a:r>
            <a:endParaRPr lang="tr-TR" sz="1900" dirty="0"/>
          </a:p>
          <a:p>
            <a:pPr lvl="1"/>
            <a:r>
              <a:rPr lang="en-US" sz="1900" dirty="0"/>
              <a:t>Maximizing local server performance and efficiency using GPU and infrastructure support provided by the firm.</a:t>
            </a:r>
            <a:endParaRPr lang="tr-TR" sz="19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1849B8D-6A3C-895E-F0CB-25CDC7B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24E0B2B8-C5F5-8577-5331-1FB939CD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E2E35FA-981F-8F1A-E7CF-44DA677A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7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Arial"/>
              <a:buAutoNum type="arabicPeriod"/>
            </a:pPr>
            <a:r>
              <a:rPr lang="tr-TR" sz="2400" b="1" dirty="0"/>
              <a:t>Wang, J., et al. (2024). </a:t>
            </a:r>
            <a:r>
              <a:rPr lang="tr-TR" sz="2400" dirty="0" err="1"/>
              <a:t>MinerU</a:t>
            </a:r>
            <a:r>
              <a:rPr lang="tr-TR" sz="2400" dirty="0"/>
              <a:t>: A High-</a:t>
            </a:r>
            <a:r>
              <a:rPr lang="tr-TR" sz="2400" dirty="0" err="1"/>
              <a:t>quality</a:t>
            </a:r>
            <a:r>
              <a:rPr lang="tr-TR" sz="2400" dirty="0"/>
              <a:t> PDF Content </a:t>
            </a:r>
            <a:r>
              <a:rPr lang="tr-TR" sz="2400" dirty="0" err="1"/>
              <a:t>Extraction</a:t>
            </a:r>
            <a:r>
              <a:rPr lang="tr-TR" sz="2400" dirty="0"/>
              <a:t> </a:t>
            </a:r>
            <a:r>
              <a:rPr lang="tr-TR" sz="2400" dirty="0" err="1"/>
              <a:t>Tool</a:t>
            </a:r>
            <a:r>
              <a:rPr lang="tr-TR" sz="2400" dirty="0"/>
              <a:t>. </a:t>
            </a:r>
            <a:r>
              <a:rPr lang="tr-TR" sz="2400" dirty="0" err="1"/>
              <a:t>OpenDataLab</a:t>
            </a:r>
            <a:r>
              <a:rPr lang="tr-TR" sz="2400" dirty="0"/>
              <a:t>. (</a:t>
            </a:r>
            <a:r>
              <a:rPr lang="tr-TR" sz="2400" dirty="0" err="1"/>
              <a:t>Foundational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layout-aware</a:t>
            </a:r>
            <a:r>
              <a:rPr lang="tr-TR" sz="2400" dirty="0"/>
              <a:t> multimodal data </a:t>
            </a:r>
            <a:r>
              <a:rPr lang="tr-TR" sz="2400" dirty="0" err="1"/>
              <a:t>ingestion</a:t>
            </a:r>
            <a:r>
              <a:rPr lang="tr-TR" sz="2400" dirty="0"/>
              <a:t>).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b="1" dirty="0" err="1"/>
              <a:t>Dettmers</a:t>
            </a:r>
            <a:r>
              <a:rPr lang="tr-TR" sz="2400" b="1" dirty="0"/>
              <a:t>, T., et al. (2023). </a:t>
            </a:r>
            <a:r>
              <a:rPr lang="tr-TR" sz="2400" dirty="0" err="1"/>
              <a:t>QLoRA</a:t>
            </a:r>
            <a:r>
              <a:rPr lang="tr-TR" sz="2400" dirty="0"/>
              <a:t>: </a:t>
            </a:r>
            <a:r>
              <a:rPr lang="tr-TR" sz="2400" dirty="0" err="1"/>
              <a:t>Efficient</a:t>
            </a:r>
            <a:r>
              <a:rPr lang="tr-TR" sz="2400" dirty="0"/>
              <a:t> </a:t>
            </a:r>
            <a:r>
              <a:rPr lang="tr-TR" sz="2400" dirty="0" err="1"/>
              <a:t>Finetuning</a:t>
            </a:r>
            <a:r>
              <a:rPr lang="tr-TR" sz="2400" dirty="0"/>
              <a:t> of </a:t>
            </a:r>
            <a:r>
              <a:rPr lang="tr-TR" sz="2400" dirty="0" err="1"/>
              <a:t>Quantized</a:t>
            </a:r>
            <a:r>
              <a:rPr lang="tr-TR" sz="2400" dirty="0"/>
              <a:t> </a:t>
            </a:r>
            <a:r>
              <a:rPr lang="tr-TR" sz="2400" dirty="0" err="1"/>
              <a:t>LLMs</a:t>
            </a:r>
            <a:r>
              <a:rPr lang="tr-TR" sz="2400" dirty="0"/>
              <a:t>. </a:t>
            </a:r>
            <a:r>
              <a:rPr lang="tr-TR" sz="2400" dirty="0" err="1"/>
              <a:t>NeurIPS</a:t>
            </a:r>
            <a:r>
              <a:rPr lang="tr-TR" sz="2400" dirty="0"/>
              <a:t>. (</a:t>
            </a:r>
            <a:r>
              <a:rPr lang="tr-TR" sz="2400" dirty="0" err="1"/>
              <a:t>Core</a:t>
            </a:r>
            <a:r>
              <a:rPr lang="tr-TR" sz="2400" dirty="0"/>
              <a:t> </a:t>
            </a:r>
            <a:r>
              <a:rPr lang="tr-TR" sz="2400" dirty="0" err="1"/>
              <a:t>methodology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memory-efficient</a:t>
            </a:r>
            <a:r>
              <a:rPr lang="tr-TR" sz="2400" dirty="0"/>
              <a:t> </a:t>
            </a:r>
            <a:r>
              <a:rPr lang="tr-TR" sz="2400" dirty="0" err="1"/>
              <a:t>knowledge</a:t>
            </a:r>
            <a:r>
              <a:rPr lang="tr-TR" sz="2400" dirty="0"/>
              <a:t> </a:t>
            </a:r>
            <a:r>
              <a:rPr lang="tr-TR" sz="2400" dirty="0" err="1"/>
              <a:t>internalization</a:t>
            </a:r>
            <a:r>
              <a:rPr lang="tr-TR" sz="2400" dirty="0"/>
              <a:t>).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b="1" dirty="0" err="1"/>
              <a:t>Wei</a:t>
            </a:r>
            <a:r>
              <a:rPr lang="tr-TR" sz="2400" b="1" dirty="0"/>
              <a:t>, J., et al. (2022). </a:t>
            </a:r>
            <a:r>
              <a:rPr lang="tr-TR" sz="2400" dirty="0" err="1"/>
              <a:t>Emergent</a:t>
            </a:r>
            <a:r>
              <a:rPr lang="tr-TR" sz="2400" dirty="0"/>
              <a:t> </a:t>
            </a:r>
            <a:r>
              <a:rPr lang="tr-TR" sz="2400" dirty="0" err="1"/>
              <a:t>Abilities</a:t>
            </a:r>
            <a:r>
              <a:rPr lang="tr-TR" sz="2400" dirty="0"/>
              <a:t> of </a:t>
            </a:r>
            <a:r>
              <a:rPr lang="tr-TR" sz="2400" dirty="0" err="1"/>
              <a:t>Large</a:t>
            </a:r>
            <a:r>
              <a:rPr lang="tr-TR" sz="2400" dirty="0"/>
              <a:t> Language </a:t>
            </a:r>
            <a:r>
              <a:rPr lang="tr-TR" sz="2400" dirty="0" err="1"/>
              <a:t>Models</a:t>
            </a:r>
            <a:r>
              <a:rPr lang="tr-TR" sz="2400" dirty="0"/>
              <a:t>. </a:t>
            </a:r>
            <a:r>
              <a:rPr lang="tr-TR" sz="2400" dirty="0" err="1"/>
              <a:t>Transactions</a:t>
            </a:r>
            <a:r>
              <a:rPr lang="tr-TR" sz="2400" dirty="0"/>
              <a:t> on Machine Learning </a:t>
            </a:r>
            <a:r>
              <a:rPr lang="tr-TR" sz="2400" dirty="0" err="1"/>
              <a:t>Research</a:t>
            </a:r>
            <a:r>
              <a:rPr lang="tr-TR" sz="2400" dirty="0"/>
              <a:t> (TMLR). (</a:t>
            </a:r>
            <a:r>
              <a:rPr lang="tr-TR" sz="2400" dirty="0" err="1"/>
              <a:t>Scientific</a:t>
            </a:r>
            <a:r>
              <a:rPr lang="tr-TR" sz="2400" dirty="0"/>
              <a:t> </a:t>
            </a:r>
            <a:r>
              <a:rPr lang="tr-TR" sz="2400" dirty="0" err="1"/>
              <a:t>basis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scaling-induced</a:t>
            </a:r>
            <a:r>
              <a:rPr lang="tr-TR" sz="2400" dirty="0"/>
              <a:t> </a:t>
            </a:r>
            <a:r>
              <a:rPr lang="tr-TR" sz="2400" dirty="0" err="1"/>
              <a:t>capabilities</a:t>
            </a:r>
            <a:r>
              <a:rPr lang="tr-TR" sz="2400" dirty="0"/>
              <a:t> in </a:t>
            </a:r>
            <a:r>
              <a:rPr lang="tr-TR" sz="2400" dirty="0" err="1"/>
              <a:t>SLMs</a:t>
            </a:r>
            <a:r>
              <a:rPr lang="tr-TR" sz="2400" dirty="0"/>
              <a:t>/</a:t>
            </a:r>
            <a:r>
              <a:rPr lang="tr-TR" sz="2400" dirty="0" err="1"/>
              <a:t>LLMs</a:t>
            </a:r>
            <a:r>
              <a:rPr lang="tr-TR" sz="2400" dirty="0"/>
              <a:t>).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b="1" dirty="0" err="1"/>
              <a:t>Wei</a:t>
            </a:r>
            <a:r>
              <a:rPr lang="tr-TR" sz="2400" b="1" dirty="0"/>
              <a:t>, J., et al. (2022). </a:t>
            </a:r>
            <a:r>
              <a:rPr lang="tr-TR" sz="2400" dirty="0" err="1"/>
              <a:t>Chain</a:t>
            </a:r>
            <a:r>
              <a:rPr lang="tr-TR" sz="2400" dirty="0"/>
              <a:t>-of-</a:t>
            </a:r>
            <a:r>
              <a:rPr lang="tr-TR" sz="2400" dirty="0" err="1"/>
              <a:t>Thought</a:t>
            </a:r>
            <a:r>
              <a:rPr lang="tr-TR" sz="2400" dirty="0"/>
              <a:t> </a:t>
            </a:r>
            <a:r>
              <a:rPr lang="tr-TR" sz="2400" dirty="0" err="1"/>
              <a:t>Prompting</a:t>
            </a:r>
            <a:r>
              <a:rPr lang="tr-TR" sz="2400" dirty="0"/>
              <a:t> </a:t>
            </a:r>
            <a:r>
              <a:rPr lang="tr-TR" sz="2400" dirty="0" err="1"/>
              <a:t>Elicits</a:t>
            </a:r>
            <a:r>
              <a:rPr lang="tr-TR" sz="2400" dirty="0"/>
              <a:t> </a:t>
            </a:r>
            <a:r>
              <a:rPr lang="tr-TR" sz="2400" dirty="0" err="1"/>
              <a:t>Reasoning</a:t>
            </a:r>
            <a:r>
              <a:rPr lang="tr-TR" sz="2400" dirty="0"/>
              <a:t> in </a:t>
            </a:r>
            <a:r>
              <a:rPr lang="tr-TR" sz="2400" dirty="0" err="1"/>
              <a:t>Large</a:t>
            </a:r>
            <a:r>
              <a:rPr lang="tr-TR" sz="2400" dirty="0"/>
              <a:t> Language </a:t>
            </a:r>
            <a:r>
              <a:rPr lang="tr-TR" sz="2400" dirty="0" err="1"/>
              <a:t>Models</a:t>
            </a:r>
            <a:r>
              <a:rPr lang="tr-TR" sz="2400" dirty="0"/>
              <a:t>. </a:t>
            </a:r>
            <a:r>
              <a:rPr lang="tr-TR" sz="2400" dirty="0" err="1"/>
              <a:t>NeurIPS</a:t>
            </a:r>
            <a:r>
              <a:rPr lang="tr-TR" sz="2400" dirty="0"/>
              <a:t>. (Framework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solving</a:t>
            </a:r>
            <a:r>
              <a:rPr lang="tr-TR" sz="2400" dirty="0"/>
              <a:t> </a:t>
            </a:r>
            <a:r>
              <a:rPr lang="tr-TR" sz="2400" dirty="0" err="1"/>
              <a:t>complex</a:t>
            </a:r>
            <a:r>
              <a:rPr lang="tr-TR" sz="2400" dirty="0"/>
              <a:t> </a:t>
            </a:r>
            <a:r>
              <a:rPr lang="tr-TR" sz="2400" dirty="0" err="1"/>
              <a:t>spatial</a:t>
            </a:r>
            <a:r>
              <a:rPr lang="tr-TR" sz="2400" dirty="0"/>
              <a:t> </a:t>
            </a:r>
            <a:r>
              <a:rPr lang="tr-TR" sz="2400" dirty="0" err="1"/>
              <a:t>logic</a:t>
            </a:r>
            <a:r>
              <a:rPr lang="tr-TR" sz="2400" dirty="0"/>
              <a:t> in </a:t>
            </a:r>
            <a:r>
              <a:rPr lang="tr-TR" sz="2400" dirty="0" err="1"/>
              <a:t>tables</a:t>
            </a:r>
            <a:r>
              <a:rPr lang="tr-TR" sz="2400" dirty="0"/>
              <a:t>).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b="1" dirty="0"/>
              <a:t>Lewis, P., et al. (2020). </a:t>
            </a:r>
            <a:r>
              <a:rPr lang="tr-TR" sz="2400" dirty="0" err="1"/>
              <a:t>Retrieval-Augmented</a:t>
            </a:r>
            <a:r>
              <a:rPr lang="tr-TR" sz="2400" dirty="0"/>
              <a:t> </a:t>
            </a:r>
            <a:r>
              <a:rPr lang="tr-TR" sz="2400" dirty="0" err="1"/>
              <a:t>Generation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Knowledge-</a:t>
            </a:r>
            <a:r>
              <a:rPr lang="tr-TR" sz="2400" dirty="0" err="1"/>
              <a:t>Intensive</a:t>
            </a:r>
            <a:r>
              <a:rPr lang="tr-TR" sz="2400" dirty="0"/>
              <a:t> NLP </a:t>
            </a:r>
            <a:r>
              <a:rPr lang="tr-TR" sz="2400" dirty="0" err="1"/>
              <a:t>Tasks</a:t>
            </a:r>
            <a:r>
              <a:rPr lang="tr-TR" sz="2400" dirty="0"/>
              <a:t>. </a:t>
            </a:r>
            <a:r>
              <a:rPr lang="tr-TR" sz="2400" dirty="0" err="1"/>
              <a:t>NeurIPS</a:t>
            </a:r>
            <a:r>
              <a:rPr lang="tr-TR" sz="2400" dirty="0"/>
              <a:t>. (</a:t>
            </a:r>
            <a:r>
              <a:rPr lang="tr-TR" sz="2400" dirty="0" err="1"/>
              <a:t>Original</a:t>
            </a:r>
            <a:r>
              <a:rPr lang="tr-TR" sz="2400" dirty="0"/>
              <a:t> </a:t>
            </a:r>
            <a:r>
              <a:rPr lang="tr-TR" sz="2400" dirty="0" err="1"/>
              <a:t>architecture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factual</a:t>
            </a:r>
            <a:r>
              <a:rPr lang="tr-TR" sz="2400" dirty="0"/>
              <a:t> </a:t>
            </a:r>
            <a:r>
              <a:rPr lang="tr-TR" sz="2400" dirty="0" err="1"/>
              <a:t>grounding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hybrid</a:t>
            </a:r>
            <a:r>
              <a:rPr lang="tr-TR" sz="2400" dirty="0"/>
              <a:t> AI </a:t>
            </a:r>
            <a:r>
              <a:rPr lang="tr-TR" sz="2400" dirty="0" err="1"/>
              <a:t>systems</a:t>
            </a:r>
            <a:r>
              <a:rPr lang="tr-TR" sz="2400" dirty="0"/>
              <a:t>).</a:t>
            </a:r>
          </a:p>
          <a:p>
            <a:pPr marL="514350" indent="-514350">
              <a:buFont typeface="Arial"/>
              <a:buAutoNum type="arabicPeriod"/>
            </a:pPr>
            <a:r>
              <a:rPr lang="tr-TR" sz="2400" b="1" dirty="0"/>
              <a:t>NATO AASTP-1 (Ed. 1). </a:t>
            </a:r>
            <a:r>
              <a:rPr lang="tr-TR" sz="2400" dirty="0" err="1"/>
              <a:t>Allied</a:t>
            </a:r>
            <a:r>
              <a:rPr lang="tr-TR" sz="2400" dirty="0"/>
              <a:t> Storage </a:t>
            </a:r>
            <a:r>
              <a:rPr lang="tr-TR" sz="2400" dirty="0" err="1"/>
              <a:t>and</a:t>
            </a:r>
            <a:r>
              <a:rPr lang="tr-TR" sz="2400" dirty="0"/>
              <a:t> Transport </a:t>
            </a:r>
            <a:r>
              <a:rPr lang="tr-TR" sz="2400" dirty="0" err="1"/>
              <a:t>Publication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Ammunition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dirty="0" err="1"/>
              <a:t>Explosives</a:t>
            </a:r>
            <a:r>
              <a:rPr lang="tr-TR" sz="2400" dirty="0"/>
              <a:t>. (</a:t>
            </a:r>
            <a:r>
              <a:rPr lang="tr-TR" sz="2400" dirty="0" err="1"/>
              <a:t>Primary</a:t>
            </a:r>
            <a:r>
              <a:rPr lang="tr-TR" sz="2400" dirty="0"/>
              <a:t> </a:t>
            </a:r>
            <a:r>
              <a:rPr lang="tr-TR" sz="2400" dirty="0" err="1"/>
              <a:t>source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military</a:t>
            </a:r>
            <a:r>
              <a:rPr lang="tr-TR" sz="2400" dirty="0"/>
              <a:t> </a:t>
            </a:r>
            <a:r>
              <a:rPr lang="tr-TR" sz="2400" dirty="0" err="1"/>
              <a:t>safety</a:t>
            </a:r>
            <a:r>
              <a:rPr lang="tr-TR" sz="2400" dirty="0"/>
              <a:t> </a:t>
            </a:r>
            <a:r>
              <a:rPr lang="tr-TR" sz="2400" dirty="0" err="1"/>
              <a:t>standards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multimodal domain data).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14.01.2026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Final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584023-2426-4597-A7B7-5BEBE999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1316</TotalTime>
  <Words>806</Words>
  <Application>Microsoft Office PowerPoint</Application>
  <PresentationFormat>Geniş ekran</PresentationFormat>
  <Paragraphs>95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Arial Narrow</vt:lpstr>
      <vt:lpstr>Calibri</vt:lpstr>
      <vt:lpstr>GTU-ŞABLON-1</vt:lpstr>
      <vt:lpstr>Task-Adaptive Fine-Tuning of Multimodal Foundation Models across Tables, Text, and Images</vt:lpstr>
      <vt:lpstr>Contents</vt:lpstr>
      <vt:lpstr>Problem Definition</vt:lpstr>
      <vt:lpstr>Project Scope &amp; Academic Foundation</vt:lpstr>
      <vt:lpstr>Comparative Observations - 1</vt:lpstr>
      <vt:lpstr>Comparative Observations - 2</vt:lpstr>
      <vt:lpstr>Proposed System Design </vt:lpstr>
      <vt:lpstr>Proof of Concept &amp; Scenario Results</vt:lpstr>
      <vt:lpstr>Future Roadmap &amp; Phase 2 Planning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TAHA ALPARSLAN ATABEY</cp:lastModifiedBy>
  <cp:revision>369</cp:revision>
  <dcterms:created xsi:type="dcterms:W3CDTF">2015-02-28T16:59:24Z</dcterms:created>
  <dcterms:modified xsi:type="dcterms:W3CDTF">2026-01-13T20:05:41Z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